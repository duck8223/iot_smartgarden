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84" r:id="rId5"/>
    <p:sldId id="318" r:id="rId6"/>
    <p:sldId id="332" r:id="rId7"/>
    <p:sldId id="333" r:id="rId8"/>
    <p:sldId id="343" r:id="rId9"/>
    <p:sldId id="319" r:id="rId10"/>
    <p:sldId id="335" r:id="rId11"/>
    <p:sldId id="338" r:id="rId12"/>
    <p:sldId id="339" r:id="rId13"/>
    <p:sldId id="341" r:id="rId14"/>
    <p:sldId id="342" r:id="rId15"/>
    <p:sldId id="344" r:id="rId16"/>
    <p:sldId id="345" r:id="rId17"/>
    <p:sldId id="305" r:id="rId18"/>
    <p:sldId id="330" r:id="rId19"/>
    <p:sldId id="275" r:id="rId20"/>
  </p:sldIdLst>
  <p:sldSz cx="18288000" cy="10287000"/>
  <p:notesSz cx="6858000" cy="9144000"/>
  <p:embeddedFontLst>
    <p:embeddedFont>
      <p:font typeface="Calibri" panose="020F0502020204030204" pitchFamily="34" charset="0"/>
      <p:regular r:id="rId22"/>
      <p:bold r:id="rId23"/>
      <p:italic r:id="rId24"/>
      <p:boldItalic r:id="rId25"/>
    </p:embeddedFont>
    <p:embeddedFont>
      <p:font typeface="Montserrat Extra-Bold" panose="020B0604020202020204" charset="0"/>
      <p:regular r:id="rId26"/>
    </p:embeddedFont>
    <p:embeddedFont>
      <p:font typeface="Montserrat Extra-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06A015D-B98B-42C6-A999-0B017F51B087}">
          <p14:sldIdLst>
            <p14:sldId id="256"/>
            <p14:sldId id="257"/>
            <p14:sldId id="258"/>
            <p14:sldId id="284"/>
            <p14:sldId id="318"/>
            <p14:sldId id="332"/>
            <p14:sldId id="333"/>
            <p14:sldId id="343"/>
            <p14:sldId id="319"/>
            <p14:sldId id="335"/>
            <p14:sldId id="338"/>
            <p14:sldId id="339"/>
            <p14:sldId id="341"/>
            <p14:sldId id="342"/>
            <p14:sldId id="344"/>
            <p14:sldId id="345"/>
            <p14:sldId id="305"/>
            <p14:sldId id="330"/>
            <p14:sldId id="27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5DA03-83F5-4B65-AFB8-1D3ABEFBBC9D}" v="1242" dt="2023-06-16T16:12:01.6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3898" autoAdjust="0"/>
  </p:normalViewPr>
  <p:slideViewPr>
    <p:cSldViewPr>
      <p:cViewPr varScale="1">
        <p:scale>
          <a:sx n="64" d="100"/>
          <a:sy n="64" d="100"/>
        </p:scale>
        <p:origin x="163" y="3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3A6047-B4AE-42B7-BB66-10B183514920}" type="datetimeFigureOut">
              <a:rPr lang="en-US" smtClean="0"/>
              <a:t>12/13/2023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BF2B2-E79C-4644-8657-B5531C4BB8B3}" type="slidenum">
              <a:rPr lang="en-US" smtClean="0"/>
              <a:t>‹#›</a:t>
            </a:fld>
            <a:endParaRPr lang="en-US"/>
          </a:p>
        </p:txBody>
      </p:sp>
    </p:spTree>
    <p:extLst>
      <p:ext uri="{BB962C8B-B14F-4D97-AF65-F5344CB8AC3E}">
        <p14:creationId xmlns:p14="http://schemas.microsoft.com/office/powerpoint/2010/main" val="762018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bizfly.vn/techblog/php-la-gi.html" TargetMode="External"/><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0">
            <a:extLst>
              <a:ext uri="{FF2B5EF4-FFF2-40B4-BE49-F238E27FC236}">
                <a16:creationId xmlns:a16="http://schemas.microsoft.com/office/drawing/2014/main" id="{5CE211CF-E96C-6CCA-6DCD-B423AA176E08}"/>
              </a:ext>
            </a:extLst>
          </p:cNvPr>
          <p:cNvSpPr txBox="1"/>
          <p:nvPr/>
        </p:nvSpPr>
        <p:spPr>
          <a:xfrm>
            <a:off x="2021807" y="3955425"/>
            <a:ext cx="11887853" cy="705644"/>
          </a:xfrm>
          <a:prstGeom prst="rect">
            <a:avLst/>
          </a:prstGeom>
        </p:spPr>
        <p:txBody>
          <a:bodyPr lIns="0" tIns="0" rIns="0" bIns="0" rtlCol="0" anchor="t">
            <a:spAutoFit/>
          </a:bodyPr>
          <a:lstStyle/>
          <a:p>
            <a:pPr algn="ctr">
              <a:lnSpc>
                <a:spcPts val="6650"/>
              </a:lnSpc>
              <a:spcBef>
                <a:spcPct val="0"/>
              </a:spcBef>
            </a:pPr>
            <a:r>
              <a:rPr lang="en-US" sz="3500" spc="70" dirty="0" err="1">
                <a:solidFill>
                  <a:srgbClr val="263F6B"/>
                </a:solidFill>
                <a:latin typeface="Montserrat Extra-Bold"/>
              </a:rPr>
              <a:t>Trường</a:t>
            </a:r>
            <a:r>
              <a:rPr lang="en-US" sz="3500" spc="70" dirty="0">
                <a:solidFill>
                  <a:srgbClr val="263F6B"/>
                </a:solidFill>
                <a:latin typeface="Montserrat Extra-Bold"/>
              </a:rPr>
              <a:t> </a:t>
            </a:r>
            <a:r>
              <a:rPr lang="en-US" sz="3500" spc="70" dirty="0" err="1">
                <a:solidFill>
                  <a:srgbClr val="263F6B"/>
                </a:solidFill>
                <a:latin typeface="Montserrat Extra-Bold"/>
              </a:rPr>
              <a:t>đại</a:t>
            </a:r>
            <a:r>
              <a:rPr lang="en-US" sz="3500" spc="70" dirty="0">
                <a:solidFill>
                  <a:srgbClr val="263F6B"/>
                </a:solidFill>
                <a:latin typeface="Montserrat Extra-Bold"/>
              </a:rPr>
              <a:t> </a:t>
            </a:r>
            <a:r>
              <a:rPr lang="en-US" sz="3500" spc="70" dirty="0" err="1">
                <a:solidFill>
                  <a:srgbClr val="263F6B"/>
                </a:solidFill>
                <a:latin typeface="Montserrat Extra-Bold"/>
              </a:rPr>
              <a:t>học</a:t>
            </a:r>
            <a:r>
              <a:rPr lang="en-US" sz="3500" spc="70" dirty="0">
                <a:solidFill>
                  <a:srgbClr val="263F6B"/>
                </a:solidFill>
                <a:latin typeface="Montserrat Extra-Bold"/>
              </a:rPr>
              <a:t> </a:t>
            </a:r>
            <a:r>
              <a:rPr lang="en-US" sz="3500" spc="70" dirty="0" err="1">
                <a:solidFill>
                  <a:srgbClr val="263F6B"/>
                </a:solidFill>
                <a:latin typeface="Montserrat Extra-Bold"/>
              </a:rPr>
              <a:t>Sư</a:t>
            </a:r>
            <a:r>
              <a:rPr lang="en-US" sz="3500" spc="70" dirty="0">
                <a:solidFill>
                  <a:srgbClr val="263F6B"/>
                </a:solidFill>
                <a:latin typeface="Montserrat Extra-Bold"/>
              </a:rPr>
              <a:t> </a:t>
            </a:r>
            <a:r>
              <a:rPr lang="en-US" sz="3500" spc="70" dirty="0" err="1">
                <a:solidFill>
                  <a:srgbClr val="263F6B"/>
                </a:solidFill>
                <a:latin typeface="Montserrat Extra-Bold"/>
              </a:rPr>
              <a:t>Phạm</a:t>
            </a:r>
            <a:r>
              <a:rPr lang="en-US" sz="3500" spc="70" dirty="0">
                <a:solidFill>
                  <a:srgbClr val="263F6B"/>
                </a:solidFill>
                <a:latin typeface="Montserrat Extra-Bold"/>
              </a:rPr>
              <a:t> </a:t>
            </a:r>
            <a:r>
              <a:rPr lang="en-US" sz="3500" spc="70" dirty="0" err="1">
                <a:solidFill>
                  <a:srgbClr val="263F6B"/>
                </a:solidFill>
                <a:latin typeface="Montserrat Extra-Bold"/>
              </a:rPr>
              <a:t>Kỹ</a:t>
            </a:r>
            <a:r>
              <a:rPr lang="en-US" sz="3500" spc="70" dirty="0">
                <a:solidFill>
                  <a:srgbClr val="263F6B"/>
                </a:solidFill>
                <a:latin typeface="Montserrat Extra-Bold"/>
              </a:rPr>
              <a:t> </a:t>
            </a:r>
            <a:r>
              <a:rPr lang="en-US" sz="3500" spc="70" dirty="0" err="1">
                <a:solidFill>
                  <a:srgbClr val="263F6B"/>
                </a:solidFill>
                <a:latin typeface="Montserrat Extra-Bold"/>
              </a:rPr>
              <a:t>thuật</a:t>
            </a:r>
            <a:r>
              <a:rPr lang="en-US" sz="3500" spc="70" dirty="0">
                <a:solidFill>
                  <a:srgbClr val="263F6B"/>
                </a:solidFill>
                <a:latin typeface="Montserrat Extra-Bold"/>
              </a:rPr>
              <a:t> </a:t>
            </a:r>
            <a:r>
              <a:rPr lang="en-US" sz="3500" spc="70" dirty="0" err="1">
                <a:solidFill>
                  <a:srgbClr val="263F6B"/>
                </a:solidFill>
                <a:latin typeface="Montserrat Extra-Bold"/>
              </a:rPr>
              <a:t>Vĩnh</a:t>
            </a:r>
            <a:r>
              <a:rPr lang="en-US" sz="3500" spc="70" dirty="0">
                <a:solidFill>
                  <a:srgbClr val="263F6B"/>
                </a:solidFill>
                <a:latin typeface="Montserrat Extra-Bold"/>
              </a:rPr>
              <a:t> Long</a:t>
            </a:r>
          </a:p>
        </p:txBody>
      </p:sp>
      <p:sp>
        <p:nvSpPr>
          <p:cNvPr id="15" name="AutoShape 2">
            <a:extLst>
              <a:ext uri="{FF2B5EF4-FFF2-40B4-BE49-F238E27FC236}">
                <a16:creationId xmlns:a16="http://schemas.microsoft.com/office/drawing/2014/main" id="{077AB6C0-0EDF-3121-8D4B-A4CC5D69B2E9}"/>
              </a:ext>
            </a:extLst>
          </p:cNvPr>
          <p:cNvSpPr/>
          <p:nvPr/>
        </p:nvSpPr>
        <p:spPr>
          <a:xfrm rot="2700000">
            <a:off x="16865325" y="-2135649"/>
            <a:ext cx="5293007" cy="2487400"/>
          </a:xfrm>
          <a:prstGeom prst="rect">
            <a:avLst/>
          </a:prstGeom>
          <a:solidFill>
            <a:srgbClr val="1C9B5E"/>
          </a:solidFill>
        </p:spPr>
      </p:sp>
      <p:pic>
        <p:nvPicPr>
          <p:cNvPr id="2" name="Picture 2"/>
          <p:cNvPicPr>
            <a:picLocks noChangeAspect="1"/>
          </p:cNvPicPr>
          <p:nvPr/>
        </p:nvPicPr>
        <p:blipFill>
          <a:blip r:embed="rId2"/>
          <a:srcRect l="8075" r="16203"/>
          <a:stretch>
            <a:fillRect/>
          </a:stretch>
        </p:blipFill>
        <p:spPr>
          <a:xfrm>
            <a:off x="4440233" y="0"/>
            <a:ext cx="13847767" cy="10287000"/>
          </a:xfrm>
          <a:prstGeom prst="rect">
            <a:avLst/>
          </a:prstGeom>
        </p:spPr>
      </p:pic>
      <p:sp>
        <p:nvSpPr>
          <p:cNvPr id="3" name="AutoShape 3"/>
          <p:cNvSpPr/>
          <p:nvPr/>
        </p:nvSpPr>
        <p:spPr>
          <a:xfrm rot="-7020778">
            <a:off x="-6402716" y="821505"/>
            <a:ext cx="16230600" cy="10441156"/>
          </a:xfrm>
          <a:prstGeom prst="rect">
            <a:avLst/>
          </a:prstGeom>
          <a:solidFill>
            <a:srgbClr val="00BF63"/>
          </a:solidFill>
        </p:spPr>
      </p:sp>
      <p:sp>
        <p:nvSpPr>
          <p:cNvPr id="4" name="AutoShape 4"/>
          <p:cNvSpPr/>
          <p:nvPr/>
        </p:nvSpPr>
        <p:spPr>
          <a:xfrm rot="-7020778">
            <a:off x="-7855563" y="1111023"/>
            <a:ext cx="16230600" cy="10441156"/>
          </a:xfrm>
          <a:prstGeom prst="rect">
            <a:avLst/>
          </a:prstGeom>
          <a:solidFill>
            <a:srgbClr val="1C9B5E"/>
          </a:solidFill>
        </p:spPr>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5476242" y="8956802"/>
            <a:ext cx="1783058" cy="295015"/>
          </a:xfrm>
          <a:prstGeom prst="rect">
            <a:avLst/>
          </a:prstGeom>
        </p:spPr>
      </p:pic>
      <p:sp>
        <p:nvSpPr>
          <p:cNvPr id="7" name="AutoShape 7"/>
          <p:cNvSpPr/>
          <p:nvPr/>
        </p:nvSpPr>
        <p:spPr>
          <a:xfrm>
            <a:off x="-1536273" y="4580698"/>
            <a:ext cx="5244233" cy="0"/>
          </a:xfrm>
          <a:prstGeom prst="line">
            <a:avLst/>
          </a:prstGeom>
          <a:ln w="19050" cap="rnd">
            <a:solidFill>
              <a:srgbClr val="FFFFFF"/>
            </a:solidFill>
            <a:prstDash val="solid"/>
            <a:headEnd type="none" w="sm" len="sm"/>
            <a:tailEnd type="none" w="sm" len="sm"/>
          </a:ln>
        </p:spPr>
      </p:sp>
      <p:sp>
        <p:nvSpPr>
          <p:cNvPr id="8" name="AutoShape 8"/>
          <p:cNvSpPr/>
          <p:nvPr/>
        </p:nvSpPr>
        <p:spPr>
          <a:xfrm>
            <a:off x="-2298994" y="9582841"/>
            <a:ext cx="9005773" cy="0"/>
          </a:xfrm>
          <a:prstGeom prst="line">
            <a:avLst/>
          </a:prstGeom>
          <a:ln w="19050" cap="rnd">
            <a:solidFill>
              <a:srgbClr val="FFFFFF"/>
            </a:solidFill>
            <a:prstDash val="solid"/>
            <a:headEnd type="none" w="sm" len="sm"/>
            <a:tailEnd type="none" w="sm" len="sm"/>
          </a:ln>
        </p:spPr>
      </p:sp>
      <p:sp>
        <p:nvSpPr>
          <p:cNvPr id="9" name="AutoShape 9"/>
          <p:cNvSpPr/>
          <p:nvPr/>
        </p:nvSpPr>
        <p:spPr>
          <a:xfrm>
            <a:off x="-3516288" y="3712270"/>
            <a:ext cx="5720180" cy="0"/>
          </a:xfrm>
          <a:prstGeom prst="line">
            <a:avLst/>
          </a:prstGeom>
          <a:ln w="19050" cap="rnd">
            <a:solidFill>
              <a:srgbClr val="FFFFFF"/>
            </a:solidFill>
            <a:prstDash val="solid"/>
            <a:headEnd type="none" w="sm" len="sm"/>
            <a:tailEnd type="none" w="sm" len="sm"/>
          </a:ln>
        </p:spPr>
      </p:sp>
      <p:sp>
        <p:nvSpPr>
          <p:cNvPr id="10" name="AutoShape 10"/>
          <p:cNvSpPr/>
          <p:nvPr/>
        </p:nvSpPr>
        <p:spPr>
          <a:xfrm>
            <a:off x="3066191" y="2823187"/>
            <a:ext cx="930938" cy="0"/>
          </a:xfrm>
          <a:prstGeom prst="line">
            <a:avLst/>
          </a:prstGeom>
          <a:ln w="19050" cap="rnd">
            <a:solidFill>
              <a:srgbClr val="FFFFFF"/>
            </a:solidFill>
            <a:prstDash val="solid"/>
            <a:headEnd type="none" w="sm" len="sm"/>
            <a:tailEnd type="none" w="sm" len="sm"/>
          </a:ln>
        </p:spPr>
      </p:sp>
      <p:sp>
        <p:nvSpPr>
          <p:cNvPr id="11" name="AutoShape 11"/>
          <p:cNvSpPr/>
          <p:nvPr/>
        </p:nvSpPr>
        <p:spPr>
          <a:xfrm>
            <a:off x="628699" y="2392260"/>
            <a:ext cx="1291530" cy="0"/>
          </a:xfrm>
          <a:prstGeom prst="line">
            <a:avLst/>
          </a:prstGeom>
          <a:ln w="19050" cap="rnd">
            <a:solidFill>
              <a:srgbClr val="FFFFFF"/>
            </a:solidFill>
            <a:prstDash val="solid"/>
            <a:headEnd type="none" w="sm" len="sm"/>
            <a:tailEnd type="none" w="sm" len="sm"/>
          </a:ln>
        </p:spPr>
      </p:sp>
      <p:sp>
        <p:nvSpPr>
          <p:cNvPr id="13" name="TextBox 13"/>
          <p:cNvSpPr txBox="1"/>
          <p:nvPr/>
        </p:nvSpPr>
        <p:spPr>
          <a:xfrm>
            <a:off x="823069" y="5717381"/>
            <a:ext cx="10799778" cy="3693319"/>
          </a:xfrm>
          <a:prstGeom prst="rect">
            <a:avLst/>
          </a:prstGeom>
        </p:spPr>
        <p:txBody>
          <a:bodyPr wrap="square" lIns="0" tIns="0" rIns="0" bIns="0" rtlCol="0" anchor="t">
            <a:spAutoFit/>
          </a:bodyPr>
          <a:lstStyle/>
          <a:p>
            <a:r>
              <a:rPr lang="en-US" sz="8000" spc="-472" dirty="0">
                <a:solidFill>
                  <a:srgbClr val="FFFFFF"/>
                </a:solidFill>
                <a:latin typeface="Montserrat Extra-Bold Italics"/>
              </a:rPr>
              <a:t>TRƯỜNG ĐẠI HỌC SƯ PHẠM KỸ THUẬT VĨNH LONG</a:t>
            </a:r>
          </a:p>
        </p:txBody>
      </p:sp>
      <p:sp>
        <p:nvSpPr>
          <p:cNvPr id="5" name="TextBox 3">
            <a:extLst>
              <a:ext uri="{FF2B5EF4-FFF2-40B4-BE49-F238E27FC236}">
                <a16:creationId xmlns:a16="http://schemas.microsoft.com/office/drawing/2014/main" id="{30BBA824-BB27-B32D-7CA2-A0C8078115DF}"/>
              </a:ext>
            </a:extLst>
          </p:cNvPr>
          <p:cNvSpPr txBox="1"/>
          <p:nvPr/>
        </p:nvSpPr>
        <p:spPr>
          <a:xfrm>
            <a:off x="16101866" y="-4006622"/>
            <a:ext cx="18576541" cy="2796022"/>
          </a:xfrm>
          <a:prstGeom prst="rect">
            <a:avLst/>
          </a:prstGeom>
        </p:spPr>
        <p:txBody>
          <a:bodyPr lIns="0" tIns="0" rIns="0" bIns="0" rtlCol="0" anchor="t">
            <a:spAutoFit/>
          </a:bodyPr>
          <a:lstStyle/>
          <a:p>
            <a:pPr algn="ctr">
              <a:lnSpc>
                <a:spcPts val="11448"/>
              </a:lnSpc>
            </a:pPr>
            <a:r>
              <a:rPr lang="en-GB" sz="7500" spc="-442" dirty="0">
                <a:solidFill>
                  <a:srgbClr val="263F6B"/>
                </a:solidFill>
                <a:latin typeface="Montserrat Extra-Bold Italics"/>
              </a:rPr>
              <a:t>MÃ HÓA RUN-LENGTH ENCODING</a:t>
            </a:r>
          </a:p>
          <a:p>
            <a:pPr algn="ctr">
              <a:lnSpc>
                <a:spcPts val="11448"/>
              </a:lnSpc>
            </a:pPr>
            <a:r>
              <a:rPr lang="en-GB" sz="7500" spc="-442" dirty="0">
                <a:solidFill>
                  <a:srgbClr val="263F6B"/>
                </a:solidFill>
                <a:latin typeface="Montserrat Extra-Bold Italics"/>
              </a:rPr>
              <a:t>(RLE)</a:t>
            </a:r>
            <a:endParaRPr lang="en-US" sz="7500" spc="-442" dirty="0">
              <a:solidFill>
                <a:srgbClr val="263F6B"/>
              </a:solidFill>
              <a:latin typeface="Montserrat Extra-Bold Italics"/>
            </a:endParaRPr>
          </a:p>
        </p:txBody>
      </p:sp>
      <p:sp>
        <p:nvSpPr>
          <p:cNvPr id="14" name="TextBox 4">
            <a:extLst>
              <a:ext uri="{FF2B5EF4-FFF2-40B4-BE49-F238E27FC236}">
                <a16:creationId xmlns:a16="http://schemas.microsoft.com/office/drawing/2014/main" id="{37ED2DBA-B367-24A8-0277-7CB2D0BFB01B}"/>
              </a:ext>
            </a:extLst>
          </p:cNvPr>
          <p:cNvSpPr txBox="1"/>
          <p:nvPr/>
        </p:nvSpPr>
        <p:spPr>
          <a:xfrm>
            <a:off x="21719747" y="143235"/>
            <a:ext cx="8021370" cy="2786212"/>
          </a:xfrm>
          <a:prstGeom prst="rect">
            <a:avLst/>
          </a:prstGeom>
        </p:spPr>
        <p:txBody>
          <a:bodyPr lIns="0" tIns="0" rIns="0" bIns="0" rtlCol="0" anchor="t">
            <a:spAutoFit/>
          </a:bodyPr>
          <a:lstStyle/>
          <a:p>
            <a:pPr>
              <a:lnSpc>
                <a:spcPts val="5588"/>
              </a:lnSpc>
            </a:pPr>
            <a:r>
              <a:rPr lang="en-US" sz="2941" spc="58" dirty="0">
                <a:solidFill>
                  <a:srgbClr val="263F6B"/>
                </a:solidFill>
                <a:latin typeface="Montserrat Extra-Bold"/>
              </a:rPr>
              <a:t>GVHD:   Lê Hoàng An</a:t>
            </a:r>
          </a:p>
          <a:p>
            <a:pPr>
              <a:lnSpc>
                <a:spcPts val="5588"/>
              </a:lnSpc>
            </a:pPr>
            <a:r>
              <a:rPr lang="en-US" sz="2941" spc="58" dirty="0">
                <a:solidFill>
                  <a:srgbClr val="263F6B"/>
                </a:solidFill>
                <a:latin typeface="Montserrat Extra-Bold"/>
              </a:rPr>
              <a:t>Thành </a:t>
            </a:r>
            <a:r>
              <a:rPr lang="en-US" sz="2941" spc="58" dirty="0" err="1">
                <a:solidFill>
                  <a:srgbClr val="263F6B"/>
                </a:solidFill>
                <a:latin typeface="Montserrat Extra-Bold"/>
              </a:rPr>
              <a:t>viên</a:t>
            </a:r>
            <a:r>
              <a:rPr lang="en-US" sz="2941" spc="58" dirty="0">
                <a:solidFill>
                  <a:srgbClr val="263F6B"/>
                </a:solidFill>
                <a:latin typeface="Montserrat Extra-Bold"/>
              </a:rPr>
              <a:t>:    </a:t>
            </a:r>
            <a:r>
              <a:rPr lang="en-US" sz="2941" spc="58" dirty="0" err="1">
                <a:solidFill>
                  <a:srgbClr val="263F6B"/>
                </a:solidFill>
                <a:latin typeface="Montserrat Extra-Bold"/>
              </a:rPr>
              <a:t>Huỳnh</a:t>
            </a:r>
            <a:r>
              <a:rPr lang="en-US" sz="2941" spc="58" dirty="0">
                <a:solidFill>
                  <a:srgbClr val="263F6B"/>
                </a:solidFill>
                <a:latin typeface="Montserrat Extra-Bold"/>
              </a:rPr>
              <a:t> </a:t>
            </a:r>
            <a:r>
              <a:rPr lang="en-US" sz="2941" spc="58" dirty="0" err="1">
                <a:solidFill>
                  <a:srgbClr val="263F6B"/>
                </a:solidFill>
                <a:latin typeface="Montserrat Extra-Bold"/>
              </a:rPr>
              <a:t>Phước</a:t>
            </a:r>
            <a:r>
              <a:rPr lang="en-US" sz="2941" spc="58" dirty="0">
                <a:solidFill>
                  <a:srgbClr val="263F6B"/>
                </a:solidFill>
                <a:latin typeface="Montserrat Extra-Bold"/>
              </a:rPr>
              <a:t> </a:t>
            </a:r>
            <a:r>
              <a:rPr lang="en-US" sz="2941" spc="58" dirty="0" err="1">
                <a:solidFill>
                  <a:srgbClr val="263F6B"/>
                </a:solidFill>
                <a:latin typeface="Montserrat Extra-Bold"/>
              </a:rPr>
              <a:t>Đức</a:t>
            </a:r>
            <a:endParaRPr lang="en-US" sz="2941" spc="58" dirty="0">
              <a:solidFill>
                <a:srgbClr val="263F6B"/>
              </a:solidFill>
              <a:latin typeface="Montserrat Extra-Bold"/>
            </a:endParaRPr>
          </a:p>
          <a:p>
            <a:pPr algn="ctr">
              <a:lnSpc>
                <a:spcPts val="5588"/>
              </a:lnSpc>
            </a:pPr>
            <a:r>
              <a:rPr lang="en-US" sz="2941" spc="58" dirty="0">
                <a:solidFill>
                  <a:srgbClr val="263F6B"/>
                </a:solidFill>
                <a:latin typeface="Montserrat Extra-Bold"/>
              </a:rPr>
              <a:t>      Lê Hoàng Tâm</a:t>
            </a:r>
          </a:p>
          <a:p>
            <a:pPr algn="ctr">
              <a:lnSpc>
                <a:spcPts val="5588"/>
              </a:lnSpc>
            </a:pPr>
            <a:r>
              <a:rPr lang="en-US" sz="2941" spc="58" dirty="0">
                <a:solidFill>
                  <a:srgbClr val="263F6B"/>
                </a:solidFill>
                <a:latin typeface="Montserrat Extra-Bold"/>
              </a:rPr>
              <a:t>          </a:t>
            </a:r>
            <a:r>
              <a:rPr lang="en-US" sz="2941" spc="58" dirty="0" err="1">
                <a:solidFill>
                  <a:srgbClr val="263F6B"/>
                </a:solidFill>
                <a:latin typeface="Montserrat Extra-Bold"/>
              </a:rPr>
              <a:t>Trần</a:t>
            </a:r>
            <a:r>
              <a:rPr lang="en-US" sz="2941" spc="58" dirty="0">
                <a:solidFill>
                  <a:srgbClr val="263F6B"/>
                </a:solidFill>
                <a:latin typeface="Montserrat Extra-Bold"/>
              </a:rPr>
              <a:t> Huy Hoàng</a:t>
            </a:r>
          </a:p>
        </p:txBody>
      </p:sp>
      <p:pic>
        <p:nvPicPr>
          <p:cNvPr id="16" name="Picture 9">
            <a:extLst>
              <a:ext uri="{FF2B5EF4-FFF2-40B4-BE49-F238E27FC236}">
                <a16:creationId xmlns:a16="http://schemas.microsoft.com/office/drawing/2014/main" id="{E618D667-6DC7-8A77-8D4D-7689057864BD}"/>
              </a:ext>
            </a:extLst>
          </p:cNvPr>
          <p:cNvPicPr>
            <a:picLocks noChangeAspect="1"/>
          </p:cNvPicPr>
          <p:nvPr/>
        </p:nvPicPr>
        <p:blipFill>
          <a:blip r:embed="rId5"/>
          <a:srcRect/>
          <a:stretch>
            <a:fillRect/>
          </a:stretch>
        </p:blipFill>
        <p:spPr>
          <a:xfrm>
            <a:off x="422972" y="557904"/>
            <a:ext cx="3197670" cy="315263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AutoShape 2"/>
          <p:cNvSpPr/>
          <p:nvPr/>
        </p:nvSpPr>
        <p:spPr>
          <a:xfrm rot="2700000">
            <a:off x="14734686" y="-673949"/>
            <a:ext cx="5293007" cy="2487400"/>
          </a:xfrm>
          <a:prstGeom prst="rect">
            <a:avLst/>
          </a:prstGeom>
          <a:solidFill>
            <a:srgbClr val="1C9B5E"/>
          </a:solidFill>
        </p:spPr>
      </p:sp>
      <p:sp>
        <p:nvSpPr>
          <p:cNvPr id="3" name="TextBox 3"/>
          <p:cNvSpPr txBox="1"/>
          <p:nvPr/>
        </p:nvSpPr>
        <p:spPr>
          <a:xfrm>
            <a:off x="-330686" y="2694842"/>
            <a:ext cx="18533409" cy="2748509"/>
          </a:xfrm>
          <a:prstGeom prst="rect">
            <a:avLst/>
          </a:prstGeom>
        </p:spPr>
        <p:txBody>
          <a:bodyPr wrap="square" lIns="0" tIns="0" rIns="0" bIns="0" rtlCol="0" anchor="t">
            <a:spAutoFit/>
          </a:bodyPr>
          <a:lstStyle/>
          <a:p>
            <a:pPr algn="ctr">
              <a:lnSpc>
                <a:spcPts val="11448"/>
              </a:lnSpc>
            </a:pPr>
            <a:r>
              <a:rPr lang="en-US" sz="7200" spc="-485" dirty="0">
                <a:solidFill>
                  <a:srgbClr val="263F6B"/>
                </a:solidFill>
                <a:latin typeface="Montserrat Extra-Bold Italics"/>
              </a:rPr>
              <a:t>BÁO CÁO </a:t>
            </a:r>
            <a:r>
              <a:rPr lang="en-US" sz="7200" spc="-485">
                <a:solidFill>
                  <a:srgbClr val="263F6B"/>
                </a:solidFill>
                <a:latin typeface="Montserrat Extra-Bold Italics"/>
              </a:rPr>
              <a:t>: Phát Triển Ứng Dụng IoT</a:t>
            </a:r>
            <a:endParaRPr lang="en-US" sz="7200" spc="-485" dirty="0">
              <a:solidFill>
                <a:srgbClr val="263F6B"/>
              </a:solidFill>
              <a:latin typeface="Montserrat Extra-Bold Italics"/>
            </a:endParaRPr>
          </a:p>
          <a:p>
            <a:pPr algn="ctr">
              <a:lnSpc>
                <a:spcPts val="11448"/>
              </a:lnSpc>
            </a:pPr>
            <a:r>
              <a:rPr lang="en-US" sz="6000" spc="-485" dirty="0" err="1">
                <a:solidFill>
                  <a:srgbClr val="263F6B"/>
                </a:solidFill>
                <a:latin typeface="Montserrat Extra-Bold Italics"/>
              </a:rPr>
              <a:t>Đề</a:t>
            </a:r>
            <a:r>
              <a:rPr lang="en-US" sz="6000" spc="-485" dirty="0">
                <a:solidFill>
                  <a:srgbClr val="263F6B"/>
                </a:solidFill>
                <a:latin typeface="Montserrat Extra-Bold Italics"/>
              </a:rPr>
              <a:t> </a:t>
            </a:r>
            <a:r>
              <a:rPr lang="en-US" sz="6000" spc="-485" dirty="0" err="1">
                <a:solidFill>
                  <a:srgbClr val="263F6B"/>
                </a:solidFill>
                <a:latin typeface="Montserrat Extra-Bold Italics"/>
              </a:rPr>
              <a:t>tài</a:t>
            </a:r>
            <a:r>
              <a:rPr lang="en-US" sz="6000" spc="-485">
                <a:solidFill>
                  <a:srgbClr val="263F6B"/>
                </a:solidFill>
                <a:latin typeface="Montserrat Extra-Bold Italics"/>
              </a:rPr>
              <a:t>: Hệ Thống Vườn Thông Minh</a:t>
            </a:r>
            <a:endParaRPr lang="en-US" sz="6000" spc="-485" dirty="0">
              <a:solidFill>
                <a:srgbClr val="263F6B"/>
              </a:solidFill>
              <a:latin typeface="Montserrat Extra-Bold Italics"/>
            </a:endParaRPr>
          </a:p>
        </p:txBody>
      </p:sp>
      <p:sp>
        <p:nvSpPr>
          <p:cNvPr id="4" name="TextBox 4"/>
          <p:cNvSpPr txBox="1"/>
          <p:nvPr/>
        </p:nvSpPr>
        <p:spPr>
          <a:xfrm>
            <a:off x="8562069" y="6744527"/>
            <a:ext cx="9622119" cy="2073132"/>
          </a:xfrm>
          <a:prstGeom prst="rect">
            <a:avLst/>
          </a:prstGeom>
        </p:spPr>
        <p:txBody>
          <a:bodyPr wrap="square" lIns="0" tIns="0" rIns="0" bIns="0" rtlCol="0" anchor="t">
            <a:spAutoFit/>
          </a:bodyPr>
          <a:lstStyle/>
          <a:p>
            <a:pPr>
              <a:lnSpc>
                <a:spcPts val="5588"/>
              </a:lnSpc>
            </a:pPr>
            <a:r>
              <a:rPr lang="en-US" sz="2800" spc="58" dirty="0">
                <a:solidFill>
                  <a:srgbClr val="263F6B"/>
                </a:solidFill>
                <a:latin typeface="Montserrat Extra-Bold"/>
              </a:rPr>
              <a:t>GVHD</a:t>
            </a:r>
            <a:r>
              <a:rPr lang="en-US" sz="2800" spc="58">
                <a:solidFill>
                  <a:srgbClr val="263F6B"/>
                </a:solidFill>
                <a:latin typeface="Montserrat Extra-Bold"/>
              </a:rPr>
              <a:t>:  Trần Phan An Trường</a:t>
            </a:r>
            <a:endParaRPr lang="en-US" sz="2800" spc="58" dirty="0">
              <a:solidFill>
                <a:srgbClr val="263F6B"/>
              </a:solidFill>
              <a:latin typeface="Montserrat Extra-Bold"/>
            </a:endParaRPr>
          </a:p>
          <a:p>
            <a:pPr>
              <a:lnSpc>
                <a:spcPts val="5588"/>
              </a:lnSpc>
            </a:pPr>
            <a:r>
              <a:rPr lang="en-US" sz="2900" spc="58" dirty="0">
                <a:solidFill>
                  <a:srgbClr val="263F6B"/>
                </a:solidFill>
                <a:latin typeface="Montserrat Extra-Bold"/>
              </a:rPr>
              <a:t>Thành </a:t>
            </a:r>
            <a:r>
              <a:rPr lang="en-US" sz="2900" spc="58" dirty="0" err="1">
                <a:solidFill>
                  <a:srgbClr val="263F6B"/>
                </a:solidFill>
                <a:latin typeface="Montserrat Extra-Bold"/>
              </a:rPr>
              <a:t>viên</a:t>
            </a:r>
            <a:r>
              <a:rPr lang="en-US" sz="2900" spc="58" dirty="0">
                <a:solidFill>
                  <a:srgbClr val="263F6B"/>
                </a:solidFill>
                <a:latin typeface="Montserrat Extra-Bold"/>
              </a:rPr>
              <a:t>: </a:t>
            </a:r>
            <a:r>
              <a:rPr lang="en-US" sz="2900" spc="58" dirty="0" err="1">
                <a:solidFill>
                  <a:srgbClr val="263F6B"/>
                </a:solidFill>
                <a:latin typeface="Montserrat Extra-Bold"/>
              </a:rPr>
              <a:t>Huỳnh</a:t>
            </a:r>
            <a:r>
              <a:rPr lang="en-US" sz="2900" spc="58" dirty="0">
                <a:solidFill>
                  <a:srgbClr val="263F6B"/>
                </a:solidFill>
                <a:latin typeface="Montserrat Extra-Bold"/>
              </a:rPr>
              <a:t> </a:t>
            </a:r>
            <a:r>
              <a:rPr lang="en-US" sz="2900" spc="58" dirty="0" err="1">
                <a:solidFill>
                  <a:srgbClr val="263F6B"/>
                </a:solidFill>
                <a:latin typeface="Montserrat Extra-Bold"/>
              </a:rPr>
              <a:t>Phước</a:t>
            </a:r>
            <a:r>
              <a:rPr lang="en-US" sz="2900" spc="58" dirty="0">
                <a:solidFill>
                  <a:srgbClr val="263F6B"/>
                </a:solidFill>
                <a:latin typeface="Montserrat Extra-Bold"/>
              </a:rPr>
              <a:t> </a:t>
            </a:r>
            <a:r>
              <a:rPr lang="en-US" sz="2900" spc="58" dirty="0" err="1">
                <a:solidFill>
                  <a:srgbClr val="263F6B"/>
                </a:solidFill>
                <a:latin typeface="Montserrat Extra-Bold"/>
              </a:rPr>
              <a:t>Đức</a:t>
            </a:r>
            <a:r>
              <a:rPr lang="en-US" sz="2900" spc="58" dirty="0">
                <a:solidFill>
                  <a:srgbClr val="263F6B"/>
                </a:solidFill>
                <a:latin typeface="Montserrat Extra-Bold"/>
              </a:rPr>
              <a:t> - 21022015		       	</a:t>
            </a:r>
            <a:r>
              <a:rPr lang="en-US" sz="2900" spc="58">
                <a:solidFill>
                  <a:srgbClr val="263F6B"/>
                </a:solidFill>
                <a:latin typeface="Montserrat Extra-Bold"/>
              </a:rPr>
              <a:t>      		 Lê </a:t>
            </a:r>
            <a:r>
              <a:rPr lang="en-US" sz="2900" spc="58" dirty="0">
                <a:solidFill>
                  <a:srgbClr val="263F6B"/>
                </a:solidFill>
                <a:latin typeface="Montserrat Extra-Bold"/>
              </a:rPr>
              <a:t>Hoàng Tâm </a:t>
            </a:r>
            <a:r>
              <a:rPr lang="en-US" sz="2900" spc="58">
                <a:solidFill>
                  <a:srgbClr val="263F6B"/>
                </a:solidFill>
                <a:latin typeface="Montserrat Extra-Bold"/>
              </a:rPr>
              <a:t>- 21022016</a:t>
            </a:r>
            <a:endParaRPr lang="en-US" sz="2900" spc="58" dirty="0">
              <a:solidFill>
                <a:srgbClr val="263F6B"/>
              </a:solidFill>
              <a:latin typeface="Montserrat Extra-Bold"/>
            </a:endParaRPr>
          </a:p>
        </p:txBody>
      </p:sp>
      <p:sp>
        <p:nvSpPr>
          <p:cNvPr id="5" name="AutoShape 5"/>
          <p:cNvSpPr/>
          <p:nvPr/>
        </p:nvSpPr>
        <p:spPr>
          <a:xfrm rot="-8231889">
            <a:off x="-8386724" y="6393898"/>
            <a:ext cx="16230600" cy="10441156"/>
          </a:xfrm>
          <a:prstGeom prst="rect">
            <a:avLst/>
          </a:prstGeom>
          <a:solidFill>
            <a:srgbClr val="00BF63"/>
          </a:solidFill>
        </p:spPr>
      </p:sp>
      <p:sp>
        <p:nvSpPr>
          <p:cNvPr id="6" name="AutoShape 6"/>
          <p:cNvSpPr/>
          <p:nvPr/>
        </p:nvSpPr>
        <p:spPr>
          <a:xfrm rot="-8231889">
            <a:off x="-8785254" y="6755368"/>
            <a:ext cx="16230600" cy="10441156"/>
          </a:xfrm>
          <a:prstGeom prst="rect">
            <a:avLst/>
          </a:prstGeom>
          <a:solidFill>
            <a:srgbClr val="1C9B5E"/>
          </a:solidFill>
        </p:spPr>
      </p:sp>
      <p:pic>
        <p:nvPicPr>
          <p:cNvPr id="9" name="Picture 9"/>
          <p:cNvPicPr>
            <a:picLocks noChangeAspect="1"/>
          </p:cNvPicPr>
          <p:nvPr/>
        </p:nvPicPr>
        <p:blipFill>
          <a:blip r:embed="rId2"/>
          <a:srcRect/>
          <a:stretch>
            <a:fillRect/>
          </a:stretch>
        </p:blipFill>
        <p:spPr>
          <a:xfrm>
            <a:off x="602177" y="119285"/>
            <a:ext cx="2181475" cy="2150750"/>
          </a:xfrm>
          <a:prstGeom prst="rect">
            <a:avLst/>
          </a:prstGeom>
        </p:spPr>
      </p:pic>
      <p:sp>
        <p:nvSpPr>
          <p:cNvPr id="10" name="TextBox 10"/>
          <p:cNvSpPr txBox="1"/>
          <p:nvPr/>
        </p:nvSpPr>
        <p:spPr>
          <a:xfrm>
            <a:off x="2604448" y="752542"/>
            <a:ext cx="11887853" cy="705644"/>
          </a:xfrm>
          <a:prstGeom prst="rect">
            <a:avLst/>
          </a:prstGeom>
        </p:spPr>
        <p:txBody>
          <a:bodyPr lIns="0" tIns="0" rIns="0" bIns="0" rtlCol="0" anchor="t">
            <a:spAutoFit/>
          </a:bodyPr>
          <a:lstStyle/>
          <a:p>
            <a:pPr algn="ctr">
              <a:lnSpc>
                <a:spcPts val="6650"/>
              </a:lnSpc>
              <a:spcBef>
                <a:spcPct val="0"/>
              </a:spcBef>
            </a:pPr>
            <a:r>
              <a:rPr lang="en-US" sz="3500" spc="70" dirty="0" err="1">
                <a:solidFill>
                  <a:srgbClr val="263F6B"/>
                </a:solidFill>
                <a:latin typeface="Montserrat Extra-Bold"/>
              </a:rPr>
              <a:t>Trường</a:t>
            </a:r>
            <a:r>
              <a:rPr lang="en-US" sz="3500" spc="70" dirty="0">
                <a:solidFill>
                  <a:srgbClr val="263F6B"/>
                </a:solidFill>
                <a:latin typeface="Montserrat Extra-Bold"/>
              </a:rPr>
              <a:t> </a:t>
            </a:r>
            <a:r>
              <a:rPr lang="en-US" sz="3500" spc="70" dirty="0" err="1">
                <a:solidFill>
                  <a:srgbClr val="263F6B"/>
                </a:solidFill>
                <a:latin typeface="Montserrat Extra-Bold"/>
              </a:rPr>
              <a:t>đại</a:t>
            </a:r>
            <a:r>
              <a:rPr lang="en-US" sz="3500" spc="70" dirty="0">
                <a:solidFill>
                  <a:srgbClr val="263F6B"/>
                </a:solidFill>
                <a:latin typeface="Montserrat Extra-Bold"/>
              </a:rPr>
              <a:t> </a:t>
            </a:r>
            <a:r>
              <a:rPr lang="en-US" sz="3500" spc="70" dirty="0" err="1">
                <a:solidFill>
                  <a:srgbClr val="263F6B"/>
                </a:solidFill>
                <a:latin typeface="Montserrat Extra-Bold"/>
              </a:rPr>
              <a:t>học</a:t>
            </a:r>
            <a:r>
              <a:rPr lang="en-US" sz="3500" spc="70" dirty="0">
                <a:solidFill>
                  <a:srgbClr val="263F6B"/>
                </a:solidFill>
                <a:latin typeface="Montserrat Extra-Bold"/>
              </a:rPr>
              <a:t> </a:t>
            </a:r>
            <a:r>
              <a:rPr lang="en-US" sz="3500" spc="70" dirty="0" err="1">
                <a:solidFill>
                  <a:srgbClr val="263F6B"/>
                </a:solidFill>
                <a:latin typeface="Montserrat Extra-Bold"/>
              </a:rPr>
              <a:t>Sư</a:t>
            </a:r>
            <a:r>
              <a:rPr lang="en-US" sz="3500" spc="70" dirty="0">
                <a:solidFill>
                  <a:srgbClr val="263F6B"/>
                </a:solidFill>
                <a:latin typeface="Montserrat Extra-Bold"/>
              </a:rPr>
              <a:t> </a:t>
            </a:r>
            <a:r>
              <a:rPr lang="en-US" sz="3500" spc="70" dirty="0" err="1">
                <a:solidFill>
                  <a:srgbClr val="263F6B"/>
                </a:solidFill>
                <a:latin typeface="Montserrat Extra-Bold"/>
              </a:rPr>
              <a:t>Phạm</a:t>
            </a:r>
            <a:r>
              <a:rPr lang="en-US" sz="3500" spc="70" dirty="0">
                <a:solidFill>
                  <a:srgbClr val="263F6B"/>
                </a:solidFill>
                <a:latin typeface="Montserrat Extra-Bold"/>
              </a:rPr>
              <a:t> </a:t>
            </a:r>
            <a:r>
              <a:rPr lang="en-US" sz="3500" spc="70" dirty="0" err="1">
                <a:solidFill>
                  <a:srgbClr val="263F6B"/>
                </a:solidFill>
                <a:latin typeface="Montserrat Extra-Bold"/>
              </a:rPr>
              <a:t>Kỹ</a:t>
            </a:r>
            <a:r>
              <a:rPr lang="en-US" sz="3500" spc="70" dirty="0">
                <a:solidFill>
                  <a:srgbClr val="263F6B"/>
                </a:solidFill>
                <a:latin typeface="Montserrat Extra-Bold"/>
              </a:rPr>
              <a:t> </a:t>
            </a:r>
            <a:r>
              <a:rPr lang="en-US" sz="3500" spc="70" dirty="0" err="1">
                <a:solidFill>
                  <a:srgbClr val="263F6B"/>
                </a:solidFill>
                <a:latin typeface="Montserrat Extra-Bold"/>
              </a:rPr>
              <a:t>thuật</a:t>
            </a:r>
            <a:r>
              <a:rPr lang="en-US" sz="3500" spc="70" dirty="0">
                <a:solidFill>
                  <a:srgbClr val="263F6B"/>
                </a:solidFill>
                <a:latin typeface="Montserrat Extra-Bold"/>
              </a:rPr>
              <a:t> </a:t>
            </a:r>
            <a:r>
              <a:rPr lang="en-US" sz="3500" spc="70" dirty="0" err="1">
                <a:solidFill>
                  <a:srgbClr val="263F6B"/>
                </a:solidFill>
                <a:latin typeface="Montserrat Extra-Bold"/>
              </a:rPr>
              <a:t>Vĩnh</a:t>
            </a:r>
            <a:r>
              <a:rPr lang="en-US" sz="3500" spc="70" dirty="0">
                <a:solidFill>
                  <a:srgbClr val="263F6B"/>
                </a:solidFill>
                <a:latin typeface="Montserrat Extra-Bold"/>
              </a:rPr>
              <a:t> Long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4114800" y="2019300"/>
            <a:ext cx="9307471" cy="1106353"/>
            <a:chOff x="0" y="0"/>
            <a:chExt cx="13273017" cy="2157074"/>
          </a:xfrm>
        </p:grpSpPr>
        <p:grpSp>
          <p:nvGrpSpPr>
            <p:cNvPr id="11" name="Group 11"/>
            <p:cNvGrpSpPr/>
            <p:nvPr/>
          </p:nvGrpSpPr>
          <p:grpSpPr>
            <a:xfrm>
              <a:off x="0" y="0"/>
              <a:ext cx="13273017" cy="2157074"/>
              <a:chOff x="0" y="0"/>
              <a:chExt cx="4063607" cy="660400"/>
            </a:xfrm>
          </p:grpSpPr>
          <p:sp>
            <p:nvSpPr>
              <p:cNvPr id="12" name="Freeform 12"/>
              <p:cNvSpPr/>
              <p:nvPr/>
            </p:nvSpPr>
            <p:spPr>
              <a:xfrm>
                <a:off x="0" y="0"/>
                <a:ext cx="4063607" cy="660400"/>
              </a:xfrm>
              <a:custGeom>
                <a:avLst/>
                <a:gdLst/>
                <a:ahLst/>
                <a:cxnLst/>
                <a:rect l="l" t="t" r="r" b="b"/>
                <a:pathLst>
                  <a:path w="4063607" h="660400">
                    <a:moveTo>
                      <a:pt x="3939147" y="660400"/>
                    </a:moveTo>
                    <a:lnTo>
                      <a:pt x="124460" y="660400"/>
                    </a:lnTo>
                    <a:cubicBezTo>
                      <a:pt x="55880" y="660400"/>
                      <a:pt x="0" y="604520"/>
                      <a:pt x="0" y="535940"/>
                    </a:cubicBezTo>
                    <a:lnTo>
                      <a:pt x="0" y="124460"/>
                    </a:lnTo>
                    <a:cubicBezTo>
                      <a:pt x="0" y="55880"/>
                      <a:pt x="55880" y="0"/>
                      <a:pt x="124460" y="0"/>
                    </a:cubicBezTo>
                    <a:lnTo>
                      <a:pt x="3939147" y="0"/>
                    </a:lnTo>
                    <a:cubicBezTo>
                      <a:pt x="4007727" y="0"/>
                      <a:pt x="4063607" y="55880"/>
                      <a:pt x="4063607" y="124460"/>
                    </a:cubicBezTo>
                    <a:lnTo>
                      <a:pt x="4063607" y="535940"/>
                    </a:lnTo>
                    <a:cubicBezTo>
                      <a:pt x="4063607" y="604520"/>
                      <a:pt x="4007727" y="660400"/>
                      <a:pt x="3939147" y="660400"/>
                    </a:cubicBezTo>
                    <a:close/>
                  </a:path>
                </a:pathLst>
              </a:custGeom>
              <a:solidFill>
                <a:srgbClr val="1C9B5E"/>
              </a:solidFill>
            </p:spPr>
          </p:sp>
        </p:grpSp>
        <p:sp>
          <p:nvSpPr>
            <p:cNvPr id="13" name="TextBox 13"/>
            <p:cNvSpPr txBox="1"/>
            <p:nvPr/>
          </p:nvSpPr>
          <p:spPr>
            <a:xfrm>
              <a:off x="0" y="716491"/>
              <a:ext cx="13063522" cy="978502"/>
            </a:xfrm>
            <a:prstGeom prst="rect">
              <a:avLst/>
            </a:prstGeom>
          </p:spPr>
          <p:txBody>
            <a:bodyPr lIns="0" tIns="0" rIns="0" bIns="0" rtlCol="0" anchor="t">
              <a:spAutoFit/>
            </a:bodyPr>
            <a:lstStyle/>
            <a:p>
              <a:pPr marL="323850" lvl="1" algn="ctr">
                <a:lnSpc>
                  <a:spcPts val="3900"/>
                </a:lnSpc>
              </a:pPr>
              <a:r>
                <a:rPr lang="en-GB" sz="4000" spc="60" dirty="0">
                  <a:solidFill>
                    <a:srgbClr val="FFFFFF"/>
                  </a:solidFill>
                  <a:latin typeface="Montserrat Extra-Bold"/>
                </a:rPr>
                <a:t>I. </a:t>
              </a:r>
              <a:r>
                <a:rPr lang="en-GB" sz="4000" spc="60" dirty="0" err="1">
                  <a:solidFill>
                    <a:srgbClr val="FFFFFF"/>
                  </a:solidFill>
                  <a:latin typeface="Montserrat Extra-Bold"/>
                </a:rPr>
                <a:t>Tổng</a:t>
              </a:r>
              <a:r>
                <a:rPr lang="en-GB" sz="4000" spc="60" dirty="0">
                  <a:solidFill>
                    <a:srgbClr val="FFFFFF"/>
                  </a:solidFill>
                  <a:latin typeface="Montserrat Extra-Bold"/>
                </a:rPr>
                <a:t> Quan </a:t>
              </a:r>
              <a:r>
                <a:rPr lang="en-GB" sz="4000" spc="60" dirty="0" err="1">
                  <a:solidFill>
                    <a:srgbClr val="FFFFFF"/>
                  </a:solidFill>
                  <a:latin typeface="Montserrat Extra-Bold"/>
                </a:rPr>
                <a:t>Đề</a:t>
              </a:r>
              <a:r>
                <a:rPr lang="en-GB" sz="4000" spc="60" dirty="0">
                  <a:solidFill>
                    <a:srgbClr val="FFFFFF"/>
                  </a:solidFill>
                  <a:latin typeface="Montserrat Extra-Bold"/>
                </a:rPr>
                <a:t> </a:t>
              </a:r>
              <a:r>
                <a:rPr lang="en-GB" sz="4000" spc="60" dirty="0" err="1">
                  <a:solidFill>
                    <a:srgbClr val="FFFFFF"/>
                  </a:solidFill>
                  <a:latin typeface="Montserrat Extra-Bold"/>
                </a:rPr>
                <a:t>Tài</a:t>
              </a:r>
              <a:endParaRPr lang="en-US" sz="4000" spc="60" dirty="0">
                <a:solidFill>
                  <a:srgbClr val="FFFFFF"/>
                </a:solidFill>
                <a:latin typeface="Montserrat Extra-Bold"/>
              </a:endParaRPr>
            </a:p>
          </p:txBody>
        </p:sp>
      </p:grpSp>
      <p:sp>
        <p:nvSpPr>
          <p:cNvPr id="27" name="TextBox 27"/>
          <p:cNvSpPr txBox="1"/>
          <p:nvPr/>
        </p:nvSpPr>
        <p:spPr>
          <a:xfrm>
            <a:off x="1295400" y="915642"/>
            <a:ext cx="14018125" cy="642348"/>
          </a:xfrm>
          <a:prstGeom prst="rect">
            <a:avLst/>
          </a:prstGeom>
        </p:spPr>
        <p:txBody>
          <a:bodyPr lIns="0" tIns="0" rIns="0" bIns="0" rtlCol="0" anchor="t">
            <a:spAutoFit/>
          </a:bodyPr>
          <a:lstStyle/>
          <a:p>
            <a:pPr algn="ctr">
              <a:lnSpc>
                <a:spcPts val="4895"/>
              </a:lnSpc>
            </a:pPr>
            <a:r>
              <a:rPr lang="en-US" sz="4995" spc="-294">
                <a:solidFill>
                  <a:srgbClr val="263F6B"/>
                </a:solidFill>
                <a:latin typeface="Montserrat Extra-Bold Italics"/>
              </a:rPr>
              <a:t>NỘI DUNG BÁO CÁO</a:t>
            </a:r>
          </a:p>
        </p:txBody>
      </p:sp>
      <p:grpSp>
        <p:nvGrpSpPr>
          <p:cNvPr id="5" name="Group 10">
            <a:extLst>
              <a:ext uri="{FF2B5EF4-FFF2-40B4-BE49-F238E27FC236}">
                <a16:creationId xmlns:a16="http://schemas.microsoft.com/office/drawing/2014/main" id="{70FF3C20-3AEB-48B6-9174-1300B62E8A95}"/>
              </a:ext>
            </a:extLst>
          </p:cNvPr>
          <p:cNvGrpSpPr/>
          <p:nvPr/>
        </p:nvGrpSpPr>
        <p:grpSpPr>
          <a:xfrm>
            <a:off x="4138864" y="3386625"/>
            <a:ext cx="9307471" cy="1106353"/>
            <a:chOff x="0" y="0"/>
            <a:chExt cx="13273017" cy="2157074"/>
          </a:xfrm>
        </p:grpSpPr>
        <p:grpSp>
          <p:nvGrpSpPr>
            <p:cNvPr id="6" name="Group 11">
              <a:extLst>
                <a:ext uri="{FF2B5EF4-FFF2-40B4-BE49-F238E27FC236}">
                  <a16:creationId xmlns:a16="http://schemas.microsoft.com/office/drawing/2014/main" id="{A4D51B49-D69F-A263-7F98-318D108C7444}"/>
                </a:ext>
              </a:extLst>
            </p:cNvPr>
            <p:cNvGrpSpPr/>
            <p:nvPr/>
          </p:nvGrpSpPr>
          <p:grpSpPr>
            <a:xfrm>
              <a:off x="0" y="0"/>
              <a:ext cx="13273017" cy="2157074"/>
              <a:chOff x="0" y="0"/>
              <a:chExt cx="4063607" cy="660400"/>
            </a:xfrm>
          </p:grpSpPr>
          <p:sp>
            <p:nvSpPr>
              <p:cNvPr id="8" name="Freeform 12">
                <a:extLst>
                  <a:ext uri="{FF2B5EF4-FFF2-40B4-BE49-F238E27FC236}">
                    <a16:creationId xmlns:a16="http://schemas.microsoft.com/office/drawing/2014/main" id="{6DFE5463-804E-0EBE-9810-A3AD05B99109}"/>
                  </a:ext>
                </a:extLst>
              </p:cNvPr>
              <p:cNvSpPr/>
              <p:nvPr/>
            </p:nvSpPr>
            <p:spPr>
              <a:xfrm>
                <a:off x="0" y="0"/>
                <a:ext cx="4063607" cy="660400"/>
              </a:xfrm>
              <a:custGeom>
                <a:avLst/>
                <a:gdLst/>
                <a:ahLst/>
                <a:cxnLst/>
                <a:rect l="l" t="t" r="r" b="b"/>
                <a:pathLst>
                  <a:path w="4063607" h="660400">
                    <a:moveTo>
                      <a:pt x="3939147" y="660400"/>
                    </a:moveTo>
                    <a:lnTo>
                      <a:pt x="124460" y="660400"/>
                    </a:lnTo>
                    <a:cubicBezTo>
                      <a:pt x="55880" y="660400"/>
                      <a:pt x="0" y="604520"/>
                      <a:pt x="0" y="535940"/>
                    </a:cubicBezTo>
                    <a:lnTo>
                      <a:pt x="0" y="124460"/>
                    </a:lnTo>
                    <a:cubicBezTo>
                      <a:pt x="0" y="55880"/>
                      <a:pt x="55880" y="0"/>
                      <a:pt x="124460" y="0"/>
                    </a:cubicBezTo>
                    <a:lnTo>
                      <a:pt x="3939147" y="0"/>
                    </a:lnTo>
                    <a:cubicBezTo>
                      <a:pt x="4007727" y="0"/>
                      <a:pt x="4063607" y="55880"/>
                      <a:pt x="4063607" y="124460"/>
                    </a:cubicBezTo>
                    <a:lnTo>
                      <a:pt x="4063607" y="535940"/>
                    </a:lnTo>
                    <a:cubicBezTo>
                      <a:pt x="4063607" y="604520"/>
                      <a:pt x="4007727" y="660400"/>
                      <a:pt x="3939147" y="660400"/>
                    </a:cubicBezTo>
                    <a:close/>
                  </a:path>
                </a:pathLst>
              </a:custGeom>
              <a:solidFill>
                <a:srgbClr val="1C9B5E"/>
              </a:solidFill>
            </p:spPr>
          </p:sp>
        </p:grpSp>
        <p:sp>
          <p:nvSpPr>
            <p:cNvPr id="7" name="TextBox 13">
              <a:extLst>
                <a:ext uri="{FF2B5EF4-FFF2-40B4-BE49-F238E27FC236}">
                  <a16:creationId xmlns:a16="http://schemas.microsoft.com/office/drawing/2014/main" id="{745350F5-886F-E772-0B0F-9E3F3CDA27DF}"/>
                </a:ext>
              </a:extLst>
            </p:cNvPr>
            <p:cNvSpPr txBox="1"/>
            <p:nvPr/>
          </p:nvSpPr>
          <p:spPr>
            <a:xfrm>
              <a:off x="0" y="716491"/>
              <a:ext cx="13063522" cy="978502"/>
            </a:xfrm>
            <a:prstGeom prst="rect">
              <a:avLst/>
            </a:prstGeom>
          </p:spPr>
          <p:txBody>
            <a:bodyPr lIns="0" tIns="0" rIns="0" bIns="0" rtlCol="0" anchor="t">
              <a:spAutoFit/>
            </a:bodyPr>
            <a:lstStyle/>
            <a:p>
              <a:pPr marL="323850" lvl="1" algn="ctr">
                <a:lnSpc>
                  <a:spcPts val="3900"/>
                </a:lnSpc>
              </a:pPr>
              <a:r>
                <a:rPr lang="en-GB" sz="4000" spc="60">
                  <a:solidFill>
                    <a:srgbClr val="FFFFFF"/>
                  </a:solidFill>
                  <a:latin typeface="Montserrat Extra-Bold"/>
                </a:rPr>
                <a:t>II. Cơ sở lý thuyết</a:t>
              </a:r>
              <a:endParaRPr lang="en-US" sz="4000" spc="60" dirty="0">
                <a:solidFill>
                  <a:srgbClr val="FFFFFF"/>
                </a:solidFill>
                <a:latin typeface="Montserrat Extra-Bold"/>
              </a:endParaRPr>
            </a:p>
          </p:txBody>
        </p:sp>
      </p:grpSp>
      <p:grpSp>
        <p:nvGrpSpPr>
          <p:cNvPr id="30" name="Group 10">
            <a:extLst>
              <a:ext uri="{FF2B5EF4-FFF2-40B4-BE49-F238E27FC236}">
                <a16:creationId xmlns:a16="http://schemas.microsoft.com/office/drawing/2014/main" id="{A871CE5B-F7F5-8ADB-F891-713F2DB130E3}"/>
              </a:ext>
            </a:extLst>
          </p:cNvPr>
          <p:cNvGrpSpPr/>
          <p:nvPr/>
        </p:nvGrpSpPr>
        <p:grpSpPr>
          <a:xfrm>
            <a:off x="4134853" y="4777173"/>
            <a:ext cx="9307471" cy="1106353"/>
            <a:chOff x="0" y="0"/>
            <a:chExt cx="13273017" cy="2157074"/>
          </a:xfrm>
        </p:grpSpPr>
        <p:grpSp>
          <p:nvGrpSpPr>
            <p:cNvPr id="31" name="Group 11">
              <a:extLst>
                <a:ext uri="{FF2B5EF4-FFF2-40B4-BE49-F238E27FC236}">
                  <a16:creationId xmlns:a16="http://schemas.microsoft.com/office/drawing/2014/main" id="{5661DFB1-9F33-1AB1-EA1F-975CDAE36715}"/>
                </a:ext>
              </a:extLst>
            </p:cNvPr>
            <p:cNvGrpSpPr/>
            <p:nvPr/>
          </p:nvGrpSpPr>
          <p:grpSpPr>
            <a:xfrm>
              <a:off x="0" y="0"/>
              <a:ext cx="13273017" cy="2157074"/>
              <a:chOff x="0" y="0"/>
              <a:chExt cx="4063607" cy="660400"/>
            </a:xfrm>
          </p:grpSpPr>
          <p:sp>
            <p:nvSpPr>
              <p:cNvPr id="33" name="Freeform 12">
                <a:extLst>
                  <a:ext uri="{FF2B5EF4-FFF2-40B4-BE49-F238E27FC236}">
                    <a16:creationId xmlns:a16="http://schemas.microsoft.com/office/drawing/2014/main" id="{08DDA954-1491-7502-3D0E-D25E607A6B30}"/>
                  </a:ext>
                </a:extLst>
              </p:cNvPr>
              <p:cNvSpPr/>
              <p:nvPr/>
            </p:nvSpPr>
            <p:spPr>
              <a:xfrm>
                <a:off x="0" y="0"/>
                <a:ext cx="4063607" cy="660400"/>
              </a:xfrm>
              <a:custGeom>
                <a:avLst/>
                <a:gdLst/>
                <a:ahLst/>
                <a:cxnLst/>
                <a:rect l="l" t="t" r="r" b="b"/>
                <a:pathLst>
                  <a:path w="4063607" h="660400">
                    <a:moveTo>
                      <a:pt x="3939147" y="660400"/>
                    </a:moveTo>
                    <a:lnTo>
                      <a:pt x="124460" y="660400"/>
                    </a:lnTo>
                    <a:cubicBezTo>
                      <a:pt x="55880" y="660400"/>
                      <a:pt x="0" y="604520"/>
                      <a:pt x="0" y="535940"/>
                    </a:cubicBezTo>
                    <a:lnTo>
                      <a:pt x="0" y="124460"/>
                    </a:lnTo>
                    <a:cubicBezTo>
                      <a:pt x="0" y="55880"/>
                      <a:pt x="55880" y="0"/>
                      <a:pt x="124460" y="0"/>
                    </a:cubicBezTo>
                    <a:lnTo>
                      <a:pt x="3939147" y="0"/>
                    </a:lnTo>
                    <a:cubicBezTo>
                      <a:pt x="4007727" y="0"/>
                      <a:pt x="4063607" y="55880"/>
                      <a:pt x="4063607" y="124460"/>
                    </a:cubicBezTo>
                    <a:lnTo>
                      <a:pt x="4063607" y="535940"/>
                    </a:lnTo>
                    <a:cubicBezTo>
                      <a:pt x="4063607" y="604520"/>
                      <a:pt x="4007727" y="660400"/>
                      <a:pt x="3939147" y="660400"/>
                    </a:cubicBezTo>
                    <a:close/>
                  </a:path>
                </a:pathLst>
              </a:custGeom>
              <a:solidFill>
                <a:srgbClr val="1C9B5E"/>
              </a:solidFill>
            </p:spPr>
          </p:sp>
        </p:grpSp>
        <p:sp>
          <p:nvSpPr>
            <p:cNvPr id="32" name="TextBox 13">
              <a:extLst>
                <a:ext uri="{FF2B5EF4-FFF2-40B4-BE49-F238E27FC236}">
                  <a16:creationId xmlns:a16="http://schemas.microsoft.com/office/drawing/2014/main" id="{4D0B1A00-7A20-BF9D-3365-824AA24F8827}"/>
                </a:ext>
              </a:extLst>
            </p:cNvPr>
            <p:cNvSpPr txBox="1"/>
            <p:nvPr/>
          </p:nvSpPr>
          <p:spPr>
            <a:xfrm>
              <a:off x="0" y="716491"/>
              <a:ext cx="13063522" cy="978502"/>
            </a:xfrm>
            <a:prstGeom prst="rect">
              <a:avLst/>
            </a:prstGeom>
          </p:spPr>
          <p:txBody>
            <a:bodyPr lIns="0" tIns="0" rIns="0" bIns="0" rtlCol="0" anchor="t">
              <a:spAutoFit/>
            </a:bodyPr>
            <a:lstStyle/>
            <a:p>
              <a:pPr marL="323850" lvl="1" algn="ctr">
                <a:lnSpc>
                  <a:spcPts val="3900"/>
                </a:lnSpc>
              </a:pPr>
              <a:r>
                <a:rPr lang="en-GB" sz="4000" spc="60">
                  <a:solidFill>
                    <a:srgbClr val="FFFFFF"/>
                  </a:solidFill>
                  <a:latin typeface="Montserrat Extra-Bold"/>
                </a:rPr>
                <a:t>III. Giới thiệu hệ thống</a:t>
              </a:r>
              <a:endParaRPr lang="en-US" sz="4000" spc="60" dirty="0">
                <a:solidFill>
                  <a:srgbClr val="FFFFFF"/>
                </a:solidFill>
                <a:latin typeface="Montserrat Extra-Bold"/>
              </a:endParaRPr>
            </a:p>
          </p:txBody>
        </p:sp>
      </p:grpSp>
      <p:grpSp>
        <p:nvGrpSpPr>
          <p:cNvPr id="34" name="Group 10">
            <a:extLst>
              <a:ext uri="{FF2B5EF4-FFF2-40B4-BE49-F238E27FC236}">
                <a16:creationId xmlns:a16="http://schemas.microsoft.com/office/drawing/2014/main" id="{7B5014D5-A2AE-5959-C986-B9F73361788D}"/>
              </a:ext>
            </a:extLst>
          </p:cNvPr>
          <p:cNvGrpSpPr/>
          <p:nvPr/>
        </p:nvGrpSpPr>
        <p:grpSpPr>
          <a:xfrm>
            <a:off x="4061400" y="6203815"/>
            <a:ext cx="9307471" cy="1106353"/>
            <a:chOff x="0" y="0"/>
            <a:chExt cx="13273017" cy="2157074"/>
          </a:xfrm>
        </p:grpSpPr>
        <p:grpSp>
          <p:nvGrpSpPr>
            <p:cNvPr id="35" name="Group 11">
              <a:extLst>
                <a:ext uri="{FF2B5EF4-FFF2-40B4-BE49-F238E27FC236}">
                  <a16:creationId xmlns:a16="http://schemas.microsoft.com/office/drawing/2014/main" id="{4397C4C3-8002-2261-6B31-1E9EA181467E}"/>
                </a:ext>
              </a:extLst>
            </p:cNvPr>
            <p:cNvGrpSpPr/>
            <p:nvPr/>
          </p:nvGrpSpPr>
          <p:grpSpPr>
            <a:xfrm>
              <a:off x="0" y="0"/>
              <a:ext cx="13273017" cy="2157074"/>
              <a:chOff x="0" y="0"/>
              <a:chExt cx="4063607" cy="660400"/>
            </a:xfrm>
          </p:grpSpPr>
          <p:sp>
            <p:nvSpPr>
              <p:cNvPr id="37" name="Freeform 12">
                <a:extLst>
                  <a:ext uri="{FF2B5EF4-FFF2-40B4-BE49-F238E27FC236}">
                    <a16:creationId xmlns:a16="http://schemas.microsoft.com/office/drawing/2014/main" id="{857BA74F-E3D8-9B02-6FB0-9426E57A79E4}"/>
                  </a:ext>
                </a:extLst>
              </p:cNvPr>
              <p:cNvSpPr/>
              <p:nvPr/>
            </p:nvSpPr>
            <p:spPr>
              <a:xfrm>
                <a:off x="0" y="0"/>
                <a:ext cx="4063607" cy="660400"/>
              </a:xfrm>
              <a:custGeom>
                <a:avLst/>
                <a:gdLst/>
                <a:ahLst/>
                <a:cxnLst/>
                <a:rect l="l" t="t" r="r" b="b"/>
                <a:pathLst>
                  <a:path w="4063607" h="660400">
                    <a:moveTo>
                      <a:pt x="3939147" y="660400"/>
                    </a:moveTo>
                    <a:lnTo>
                      <a:pt x="124460" y="660400"/>
                    </a:lnTo>
                    <a:cubicBezTo>
                      <a:pt x="55880" y="660400"/>
                      <a:pt x="0" y="604520"/>
                      <a:pt x="0" y="535940"/>
                    </a:cubicBezTo>
                    <a:lnTo>
                      <a:pt x="0" y="124460"/>
                    </a:lnTo>
                    <a:cubicBezTo>
                      <a:pt x="0" y="55880"/>
                      <a:pt x="55880" y="0"/>
                      <a:pt x="124460" y="0"/>
                    </a:cubicBezTo>
                    <a:lnTo>
                      <a:pt x="3939147" y="0"/>
                    </a:lnTo>
                    <a:cubicBezTo>
                      <a:pt x="4007727" y="0"/>
                      <a:pt x="4063607" y="55880"/>
                      <a:pt x="4063607" y="124460"/>
                    </a:cubicBezTo>
                    <a:lnTo>
                      <a:pt x="4063607" y="535940"/>
                    </a:lnTo>
                    <a:cubicBezTo>
                      <a:pt x="4063607" y="604520"/>
                      <a:pt x="4007727" y="660400"/>
                      <a:pt x="3939147" y="660400"/>
                    </a:cubicBezTo>
                    <a:close/>
                  </a:path>
                </a:pathLst>
              </a:custGeom>
              <a:solidFill>
                <a:srgbClr val="1C9B5E"/>
              </a:solidFill>
            </p:spPr>
          </p:sp>
        </p:grpSp>
        <p:sp>
          <p:nvSpPr>
            <p:cNvPr id="36" name="TextBox 13">
              <a:extLst>
                <a:ext uri="{FF2B5EF4-FFF2-40B4-BE49-F238E27FC236}">
                  <a16:creationId xmlns:a16="http://schemas.microsoft.com/office/drawing/2014/main" id="{60A99DF7-376A-22CC-ECDE-6C8216054906}"/>
                </a:ext>
              </a:extLst>
            </p:cNvPr>
            <p:cNvSpPr txBox="1"/>
            <p:nvPr/>
          </p:nvSpPr>
          <p:spPr>
            <a:xfrm>
              <a:off x="0" y="716491"/>
              <a:ext cx="13063522" cy="978502"/>
            </a:xfrm>
            <a:prstGeom prst="rect">
              <a:avLst/>
            </a:prstGeom>
          </p:spPr>
          <p:txBody>
            <a:bodyPr lIns="0" tIns="0" rIns="0" bIns="0" rtlCol="0" anchor="t">
              <a:spAutoFit/>
            </a:bodyPr>
            <a:lstStyle/>
            <a:p>
              <a:pPr marL="323850" lvl="1" algn="ctr">
                <a:lnSpc>
                  <a:spcPts val="3900"/>
                </a:lnSpc>
              </a:pPr>
              <a:r>
                <a:rPr lang="en-GB" sz="4000" spc="60">
                  <a:solidFill>
                    <a:srgbClr val="FFFFFF"/>
                  </a:solidFill>
                  <a:latin typeface="Montserrat Extra-Bold"/>
                </a:rPr>
                <a:t>IV.kịch bản</a:t>
              </a:r>
              <a:endParaRPr lang="en-US" sz="4000" spc="60" dirty="0">
                <a:solidFill>
                  <a:srgbClr val="FFFFFF"/>
                </a:solidFill>
                <a:latin typeface="Montserrat Extra-Bold"/>
              </a:endParaRPr>
            </a:p>
          </p:txBody>
        </p:sp>
      </p:grpSp>
      <p:grpSp>
        <p:nvGrpSpPr>
          <p:cNvPr id="38" name="Group 10">
            <a:extLst>
              <a:ext uri="{FF2B5EF4-FFF2-40B4-BE49-F238E27FC236}">
                <a16:creationId xmlns:a16="http://schemas.microsoft.com/office/drawing/2014/main" id="{07743956-A3D3-D684-71CC-15231B215B97}"/>
              </a:ext>
            </a:extLst>
          </p:cNvPr>
          <p:cNvGrpSpPr/>
          <p:nvPr/>
        </p:nvGrpSpPr>
        <p:grpSpPr>
          <a:xfrm>
            <a:off x="4134853" y="7695884"/>
            <a:ext cx="9307471" cy="1106353"/>
            <a:chOff x="0" y="0"/>
            <a:chExt cx="13273017" cy="2157074"/>
          </a:xfrm>
        </p:grpSpPr>
        <p:grpSp>
          <p:nvGrpSpPr>
            <p:cNvPr id="39" name="Group 11">
              <a:extLst>
                <a:ext uri="{FF2B5EF4-FFF2-40B4-BE49-F238E27FC236}">
                  <a16:creationId xmlns:a16="http://schemas.microsoft.com/office/drawing/2014/main" id="{A0834C61-75A8-A735-54B0-5C68B099D0C3}"/>
                </a:ext>
              </a:extLst>
            </p:cNvPr>
            <p:cNvGrpSpPr/>
            <p:nvPr/>
          </p:nvGrpSpPr>
          <p:grpSpPr>
            <a:xfrm>
              <a:off x="0" y="0"/>
              <a:ext cx="13273017" cy="2157074"/>
              <a:chOff x="0" y="0"/>
              <a:chExt cx="4063607" cy="660400"/>
            </a:xfrm>
          </p:grpSpPr>
          <p:sp>
            <p:nvSpPr>
              <p:cNvPr id="41" name="Freeform 12">
                <a:extLst>
                  <a:ext uri="{FF2B5EF4-FFF2-40B4-BE49-F238E27FC236}">
                    <a16:creationId xmlns:a16="http://schemas.microsoft.com/office/drawing/2014/main" id="{3ED66552-FE83-FF42-7E68-28181A6A36B9}"/>
                  </a:ext>
                </a:extLst>
              </p:cNvPr>
              <p:cNvSpPr/>
              <p:nvPr/>
            </p:nvSpPr>
            <p:spPr>
              <a:xfrm>
                <a:off x="0" y="0"/>
                <a:ext cx="4063607" cy="660400"/>
              </a:xfrm>
              <a:custGeom>
                <a:avLst/>
                <a:gdLst/>
                <a:ahLst/>
                <a:cxnLst/>
                <a:rect l="l" t="t" r="r" b="b"/>
                <a:pathLst>
                  <a:path w="4063607" h="660400">
                    <a:moveTo>
                      <a:pt x="3939147" y="660400"/>
                    </a:moveTo>
                    <a:lnTo>
                      <a:pt x="124460" y="660400"/>
                    </a:lnTo>
                    <a:cubicBezTo>
                      <a:pt x="55880" y="660400"/>
                      <a:pt x="0" y="604520"/>
                      <a:pt x="0" y="535940"/>
                    </a:cubicBezTo>
                    <a:lnTo>
                      <a:pt x="0" y="124460"/>
                    </a:lnTo>
                    <a:cubicBezTo>
                      <a:pt x="0" y="55880"/>
                      <a:pt x="55880" y="0"/>
                      <a:pt x="124460" y="0"/>
                    </a:cubicBezTo>
                    <a:lnTo>
                      <a:pt x="3939147" y="0"/>
                    </a:lnTo>
                    <a:cubicBezTo>
                      <a:pt x="4007727" y="0"/>
                      <a:pt x="4063607" y="55880"/>
                      <a:pt x="4063607" y="124460"/>
                    </a:cubicBezTo>
                    <a:lnTo>
                      <a:pt x="4063607" y="535940"/>
                    </a:lnTo>
                    <a:cubicBezTo>
                      <a:pt x="4063607" y="604520"/>
                      <a:pt x="4007727" y="660400"/>
                      <a:pt x="3939147" y="660400"/>
                    </a:cubicBezTo>
                    <a:close/>
                  </a:path>
                </a:pathLst>
              </a:custGeom>
              <a:solidFill>
                <a:srgbClr val="1C9B5E"/>
              </a:solidFill>
            </p:spPr>
          </p:sp>
        </p:grpSp>
        <p:sp>
          <p:nvSpPr>
            <p:cNvPr id="40" name="TextBox 13">
              <a:extLst>
                <a:ext uri="{FF2B5EF4-FFF2-40B4-BE49-F238E27FC236}">
                  <a16:creationId xmlns:a16="http://schemas.microsoft.com/office/drawing/2014/main" id="{3D05F4E9-DDCE-36A3-31B0-E7FAE9B1B522}"/>
                </a:ext>
              </a:extLst>
            </p:cNvPr>
            <p:cNvSpPr txBox="1"/>
            <p:nvPr/>
          </p:nvSpPr>
          <p:spPr>
            <a:xfrm>
              <a:off x="0" y="716491"/>
              <a:ext cx="13063522" cy="978502"/>
            </a:xfrm>
            <a:prstGeom prst="rect">
              <a:avLst/>
            </a:prstGeom>
          </p:spPr>
          <p:txBody>
            <a:bodyPr lIns="0" tIns="0" rIns="0" bIns="0" rtlCol="0" anchor="t">
              <a:spAutoFit/>
            </a:bodyPr>
            <a:lstStyle/>
            <a:p>
              <a:pPr marL="323850" lvl="1" algn="ctr">
                <a:lnSpc>
                  <a:spcPts val="3900"/>
                </a:lnSpc>
              </a:pPr>
              <a:r>
                <a:rPr lang="en-GB" sz="4000" spc="60">
                  <a:solidFill>
                    <a:srgbClr val="FFFFFF"/>
                  </a:solidFill>
                  <a:latin typeface="Montserrat Extra-Bold"/>
                </a:rPr>
                <a:t>V. Kết luận và hướng phát triển</a:t>
              </a:r>
              <a:endParaRPr lang="en-US" sz="4000" spc="60" dirty="0">
                <a:solidFill>
                  <a:srgbClr val="FFFFFF"/>
                </a:solidFill>
                <a:latin typeface="Montserrat Extra-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395089" y="2017231"/>
            <a:ext cx="15856190" cy="6170920"/>
          </a:xfrm>
          <a:prstGeom prst="rect">
            <a:avLst/>
          </a:prstGeom>
          <a:noFill/>
        </p:spPr>
        <p:txBody>
          <a:bodyPr wrap="square" lIns="91440" tIns="45720" rIns="91440" bIns="45720" anchor="t">
            <a:spAutoFit/>
          </a:bodyPr>
          <a:lstStyle/>
          <a:p>
            <a:endParaRPr lang="en-GB" sz="4000" dirty="0">
              <a:cs typeface="Arial" panose="020B0604020202020204" pitchFamily="34" charset="0"/>
            </a:endParaRPr>
          </a:p>
          <a:p>
            <a:pPr marL="514350" indent="-514350">
              <a:buAutoNum type="arabicPeriod"/>
            </a:pPr>
            <a:r>
              <a:rPr lang="en-GB" sz="5000" b="1" dirty="0">
                <a:latin typeface="Arial" panose="020B0604020202020204" pitchFamily="34" charset="0"/>
                <a:cs typeface="Arial" panose="020B0604020202020204" pitchFamily="34" charset="0"/>
              </a:rPr>
              <a:t>Lý do </a:t>
            </a:r>
            <a:r>
              <a:rPr lang="en-GB" sz="5000" b="1" dirty="0" err="1">
                <a:latin typeface="Arial" panose="020B0604020202020204" pitchFamily="34" charset="0"/>
                <a:cs typeface="Arial" panose="020B0604020202020204" pitchFamily="34" charset="0"/>
              </a:rPr>
              <a:t>chọn</a:t>
            </a:r>
            <a:r>
              <a:rPr lang="en-GB" sz="5000" b="1" dirty="0">
                <a:latin typeface="Arial" panose="020B0604020202020204" pitchFamily="34" charset="0"/>
                <a:cs typeface="Arial" panose="020B0604020202020204" pitchFamily="34" charset="0"/>
              </a:rPr>
              <a:t> </a:t>
            </a:r>
            <a:r>
              <a:rPr lang="en-GB" sz="5000" b="1" dirty="0" err="1">
                <a:latin typeface="Arial" panose="020B0604020202020204" pitchFamily="34" charset="0"/>
                <a:cs typeface="Arial" panose="020B0604020202020204" pitchFamily="34" charset="0"/>
              </a:rPr>
              <a:t>đề</a:t>
            </a:r>
            <a:r>
              <a:rPr lang="en-GB" sz="5000" b="1" dirty="0">
                <a:latin typeface="Arial" panose="020B0604020202020204" pitchFamily="34" charset="0"/>
                <a:cs typeface="Arial" panose="020B0604020202020204" pitchFamily="34" charset="0"/>
              </a:rPr>
              <a:t> </a:t>
            </a:r>
            <a:r>
              <a:rPr lang="en-GB" sz="5000" b="1" dirty="0" err="1">
                <a:latin typeface="Arial" panose="020B0604020202020204" pitchFamily="34" charset="0"/>
                <a:cs typeface="Arial" panose="020B0604020202020204" pitchFamily="34" charset="0"/>
              </a:rPr>
              <a:t>tài</a:t>
            </a:r>
            <a:endParaRPr lang="en-GB" sz="5000" b="1" dirty="0">
              <a:latin typeface="Arial" panose="020B0604020202020204" pitchFamily="34" charset="0"/>
              <a:cs typeface="Arial" panose="020B0604020202020204" pitchFamily="34" charset="0"/>
            </a:endParaRPr>
          </a:p>
          <a:p>
            <a:endParaRPr lang="en-GB" sz="2500" b="1" dirty="0">
              <a:latin typeface="Arial" panose="020B0604020202020204" pitchFamily="34" charset="0"/>
              <a:cs typeface="Arial" panose="020B0604020202020204" pitchFamily="34" charset="0"/>
            </a:endParaRPr>
          </a:p>
          <a:p>
            <a:r>
              <a:rPr lang="en-GB" sz="4000">
                <a:latin typeface="Arial" panose="020B0604020202020204" pitchFamily="34" charset="0"/>
                <a:cs typeface="Arial" panose="020B0604020202020204" pitchFamily="34" charset="0"/>
              </a:rPr>
              <a:t>	</a:t>
            </a:r>
            <a:r>
              <a:rPr lang="vi-VN" sz="4000">
                <a:latin typeface="Arial" panose="020B0604020202020204" pitchFamily="34" charset="0"/>
                <a:cs typeface="Arial" panose="020B0604020202020204" pitchFamily="34" charset="0"/>
              </a:rPr>
              <a:t>Trong thời đại công nghệ 4.0, Nông nghiệp IoT đang trở thành một xu hướng quan trọng. Sử dụng công nghệ và trí tuệ nhân tạo trong việc trồng trọt có thể tối ưu hóa hiệu suất và năng suất sản xuất nông nghiệp. Nghiên cứu về việc áp dụng IoT trong nông nghiệp đáp ứng nhu cầu này và mang lại tiềm năng lớn cho sự phát triển bền vững của ngành nông nghiệp.</a:t>
            </a:r>
            <a:endParaRPr lang="en-GB" sz="4000" b="1" dirty="0">
              <a:latin typeface="Arial" panose="020B0604020202020204" pitchFamily="34" charset="0"/>
              <a:cs typeface="Arial" panose="020B0604020202020204" pitchFamily="34" charset="0"/>
            </a:endParaRPr>
          </a:p>
          <a:p>
            <a:endParaRPr lang="vi-VN" sz="4000" dirty="0"/>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7183377" cy="938719"/>
          </a:xfrm>
          <a:prstGeom prst="rect">
            <a:avLst/>
          </a:prstGeom>
          <a:noFill/>
        </p:spPr>
        <p:txBody>
          <a:bodyPr wrap="none" rtlCol="0">
            <a:spAutoFit/>
          </a:bodyPr>
          <a:lstStyle/>
          <a:p>
            <a:r>
              <a:rPr lang="en-GB" sz="5500" b="1" i="1" dirty="0">
                <a:solidFill>
                  <a:srgbClr val="002060"/>
                </a:solidFill>
                <a:latin typeface="Montserrat Extra-Bold" panose="020B0604020202020204" charset="0"/>
                <a:cs typeface="Arial" panose="020B0604020202020204" pitchFamily="34" charset="0"/>
              </a:rPr>
              <a:t>I. </a:t>
            </a:r>
            <a:r>
              <a:rPr lang="en-GB" sz="5500" b="1" i="1" dirty="0" err="1">
                <a:solidFill>
                  <a:srgbClr val="002060"/>
                </a:solidFill>
                <a:latin typeface="Montserrat Extra-Bold" panose="020B0604020202020204" charset="0"/>
                <a:cs typeface="Arial" panose="020B0604020202020204" pitchFamily="34" charset="0"/>
              </a:rPr>
              <a:t>Tổng</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quan</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đề</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tài</a:t>
            </a:r>
            <a:endParaRPr lang="en-US" sz="5500" b="1" i="1" dirty="0">
              <a:solidFill>
                <a:srgbClr val="002060"/>
              </a:solidFill>
              <a:latin typeface="Montserrat Extra-Bold" panose="020B0604020202020204" charset="0"/>
              <a:cs typeface="Arial" panose="020B0604020202020204" pitchFamily="34" charset="0"/>
            </a:endParaRPr>
          </a:p>
        </p:txBody>
      </p:sp>
    </p:spTree>
    <p:extLst>
      <p:ext uri="{BB962C8B-B14F-4D97-AF65-F5344CB8AC3E}">
        <p14:creationId xmlns:p14="http://schemas.microsoft.com/office/powerpoint/2010/main" val="75723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403110" y="1701166"/>
            <a:ext cx="15856190" cy="4170372"/>
          </a:xfrm>
          <a:prstGeom prst="rect">
            <a:avLst/>
          </a:prstGeom>
          <a:noFill/>
        </p:spPr>
        <p:txBody>
          <a:bodyPr wrap="square" lIns="91440" tIns="45720" rIns="91440" bIns="45720" anchor="t">
            <a:spAutoFit/>
          </a:bodyPr>
          <a:lstStyle/>
          <a:p>
            <a:endParaRPr lang="en-GB" sz="4000" dirty="0">
              <a:cs typeface="Arial" panose="020B0604020202020204" pitchFamily="34" charset="0"/>
            </a:endParaRPr>
          </a:p>
          <a:p>
            <a:r>
              <a:rPr lang="en-GB" sz="5000" b="1" dirty="0">
                <a:latin typeface="Arial" panose="020B0604020202020204" pitchFamily="34" charset="0"/>
                <a:cs typeface="Arial" panose="020B0604020202020204" pitchFamily="34" charset="0"/>
              </a:rPr>
              <a:t>2. </a:t>
            </a:r>
            <a:r>
              <a:rPr lang="en-GB" sz="5000" b="1" dirty="0" err="1">
                <a:latin typeface="Arial" panose="020B0604020202020204" pitchFamily="34" charset="0"/>
                <a:cs typeface="Arial" panose="020B0604020202020204" pitchFamily="34" charset="0"/>
              </a:rPr>
              <a:t>Mục</a:t>
            </a:r>
            <a:r>
              <a:rPr lang="en-GB" sz="5000" b="1" dirty="0">
                <a:latin typeface="Arial" panose="020B0604020202020204" pitchFamily="34" charset="0"/>
                <a:cs typeface="Arial" panose="020B0604020202020204" pitchFamily="34" charset="0"/>
              </a:rPr>
              <a:t> </a:t>
            </a:r>
            <a:r>
              <a:rPr lang="en-GB" sz="5000" b="1" dirty="0" err="1">
                <a:latin typeface="Arial" panose="020B0604020202020204" pitchFamily="34" charset="0"/>
                <a:cs typeface="Arial" panose="020B0604020202020204" pitchFamily="34" charset="0"/>
              </a:rPr>
              <a:t>đích</a:t>
            </a:r>
            <a:r>
              <a:rPr lang="en-GB" sz="5000" b="1" dirty="0">
                <a:latin typeface="Arial" panose="020B0604020202020204" pitchFamily="34" charset="0"/>
                <a:cs typeface="Arial" panose="020B0604020202020204" pitchFamily="34" charset="0"/>
              </a:rPr>
              <a:t> </a:t>
            </a:r>
            <a:r>
              <a:rPr lang="en-GB" sz="5000" b="1" dirty="0" err="1">
                <a:latin typeface="Arial" panose="020B0604020202020204" pitchFamily="34" charset="0"/>
                <a:cs typeface="Arial" panose="020B0604020202020204" pitchFamily="34" charset="0"/>
              </a:rPr>
              <a:t>của</a:t>
            </a:r>
            <a:r>
              <a:rPr lang="en-GB" sz="5000" b="1" dirty="0">
                <a:latin typeface="Arial" panose="020B0604020202020204" pitchFamily="34" charset="0"/>
                <a:cs typeface="Arial" panose="020B0604020202020204" pitchFamily="34" charset="0"/>
              </a:rPr>
              <a:t> </a:t>
            </a:r>
            <a:r>
              <a:rPr lang="en-GB" sz="5000" b="1" dirty="0" err="1">
                <a:latin typeface="Arial" panose="020B0604020202020204" pitchFamily="34" charset="0"/>
                <a:cs typeface="Arial" panose="020B0604020202020204" pitchFamily="34" charset="0"/>
              </a:rPr>
              <a:t>đề</a:t>
            </a:r>
            <a:r>
              <a:rPr lang="en-GB" sz="5000" b="1" dirty="0">
                <a:latin typeface="Arial" panose="020B0604020202020204" pitchFamily="34" charset="0"/>
                <a:cs typeface="Arial" panose="020B0604020202020204" pitchFamily="34" charset="0"/>
              </a:rPr>
              <a:t> </a:t>
            </a:r>
            <a:r>
              <a:rPr lang="en-GB" sz="5000" b="1" dirty="0" err="1">
                <a:latin typeface="Arial" panose="020B0604020202020204" pitchFamily="34" charset="0"/>
                <a:cs typeface="Arial" panose="020B0604020202020204" pitchFamily="34" charset="0"/>
              </a:rPr>
              <a:t>tài</a:t>
            </a:r>
            <a:endParaRPr lang="en-GB" sz="5000" b="1" dirty="0">
              <a:latin typeface="Arial" panose="020B0604020202020204" pitchFamily="34" charset="0"/>
              <a:cs typeface="Arial" panose="020B0604020202020204" pitchFamily="34" charset="0"/>
            </a:endParaRPr>
          </a:p>
          <a:p>
            <a:endParaRPr lang="en-GB" sz="40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4500">
                <a:latin typeface="Arial" panose="020B0604020202020204" pitchFamily="34" charset="0"/>
                <a:cs typeface="Arial" panose="020B0604020202020204" pitchFamily="34" charset="0"/>
              </a:rPr>
              <a:t>Nâng cao hiệu suất và hiệu quả sản xuất</a:t>
            </a:r>
          </a:p>
          <a:p>
            <a:pPr marL="285750" indent="-285750">
              <a:buFont typeface="Arial" panose="020B0604020202020204" pitchFamily="34" charset="0"/>
              <a:buChar char="•"/>
            </a:pPr>
            <a:r>
              <a:rPr lang="en-US" sz="4500">
                <a:latin typeface="Arial" panose="020B0604020202020204" pitchFamily="34" charset="0"/>
                <a:cs typeface="Arial" panose="020B0604020202020204" pitchFamily="34" charset="0"/>
              </a:rPr>
              <a:t>Quản lý tối ưu nguồn lực</a:t>
            </a:r>
            <a:endParaRPr lang="vi-VN" sz="45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4500">
                <a:latin typeface="Arial" panose="020B0604020202020204" pitchFamily="34" charset="0"/>
                <a:cs typeface="Arial" panose="020B0604020202020204" pitchFamily="34" charset="0"/>
              </a:rPr>
              <a:t>Phát triển sản phẩm nông nghiệp chất lượng cao</a:t>
            </a:r>
            <a:endParaRPr lang="vi-VN" sz="45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7183377" cy="938719"/>
          </a:xfrm>
          <a:prstGeom prst="rect">
            <a:avLst/>
          </a:prstGeom>
          <a:noFill/>
        </p:spPr>
        <p:txBody>
          <a:bodyPr wrap="none" rtlCol="0">
            <a:spAutoFit/>
          </a:bodyPr>
          <a:lstStyle/>
          <a:p>
            <a:r>
              <a:rPr lang="en-GB" sz="5500" b="1" i="1" dirty="0">
                <a:solidFill>
                  <a:srgbClr val="002060"/>
                </a:solidFill>
                <a:latin typeface="Montserrat Extra-Bold" panose="020B0604020202020204" charset="0"/>
                <a:cs typeface="Arial" panose="020B0604020202020204" pitchFamily="34" charset="0"/>
              </a:rPr>
              <a:t>I. </a:t>
            </a:r>
            <a:r>
              <a:rPr lang="en-GB" sz="5500" b="1" i="1" dirty="0" err="1">
                <a:solidFill>
                  <a:srgbClr val="002060"/>
                </a:solidFill>
                <a:latin typeface="Montserrat Extra-Bold" panose="020B0604020202020204" charset="0"/>
                <a:cs typeface="Arial" panose="020B0604020202020204" pitchFamily="34" charset="0"/>
              </a:rPr>
              <a:t>Tổng</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quan</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đề</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tài</a:t>
            </a:r>
            <a:endParaRPr lang="en-US" sz="5500" b="1" i="1" dirty="0">
              <a:solidFill>
                <a:srgbClr val="002060"/>
              </a:solidFill>
              <a:latin typeface="Montserrat Extra-Bold" panose="020B0604020202020204" charset="0"/>
              <a:cs typeface="Arial" panose="020B0604020202020204" pitchFamily="34" charset="0"/>
            </a:endParaRPr>
          </a:p>
        </p:txBody>
      </p:sp>
    </p:spTree>
    <p:extLst>
      <p:ext uri="{BB962C8B-B14F-4D97-AF65-F5344CB8AC3E}">
        <p14:creationId xmlns:p14="http://schemas.microsoft.com/office/powerpoint/2010/main" val="371688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735027" y="1662948"/>
            <a:ext cx="15856190" cy="4401205"/>
          </a:xfrm>
          <a:prstGeom prst="rect">
            <a:avLst/>
          </a:prstGeom>
          <a:noFill/>
        </p:spPr>
        <p:txBody>
          <a:bodyPr wrap="square" lIns="91440" tIns="45720" rIns="91440" bIns="45720" anchor="t">
            <a:spAutoFit/>
          </a:bodyPr>
          <a:lstStyle/>
          <a:p>
            <a:r>
              <a:rPr lang="en-GB" sz="4000" b="1" dirty="0">
                <a:cs typeface="Arial" panose="020B0604020202020204" pitchFamily="34" charset="0"/>
              </a:rPr>
              <a:t>2.PHP</a:t>
            </a:r>
          </a:p>
          <a:p>
            <a:r>
              <a:rPr lang="en-GB" sz="4000" dirty="0"/>
              <a:t>	</a:t>
            </a:r>
            <a:r>
              <a:rPr lang="vi-VN" sz="4000" dirty="0"/>
              <a:t>PHP (PHP: Hypertext Preprocessorl, viết tắt là PHP) là một ngôn ngữ lập trình kịch bản hay một loại mã lệnh chủ yếu được dùng để phát triển các ứng dụng viết cho máy chủ, mã nguồn mở, dùng cho mục đích tổng quát. Nó rất thích hợp với web và có thể dễ dàng nhúng vào trang HTML</a:t>
            </a:r>
          </a:p>
          <a:p>
            <a:endParaRPr lang="vi-VN" sz="4000" dirty="0"/>
          </a:p>
        </p:txBody>
      </p:sp>
      <p:sp>
        <p:nvSpPr>
          <p:cNvPr id="2" name="TextBox 1">
            <a:extLst>
              <a:ext uri="{FF2B5EF4-FFF2-40B4-BE49-F238E27FC236}">
                <a16:creationId xmlns:a16="http://schemas.microsoft.com/office/drawing/2014/main" id="{82EC3115-DB29-0AB2-8534-E5A359A6E708}"/>
              </a:ext>
            </a:extLst>
          </p:cNvPr>
          <p:cNvSpPr txBox="1"/>
          <p:nvPr/>
        </p:nvSpPr>
        <p:spPr>
          <a:xfrm>
            <a:off x="1503423" y="860257"/>
            <a:ext cx="6688049" cy="938719"/>
          </a:xfrm>
          <a:prstGeom prst="rect">
            <a:avLst/>
          </a:prstGeom>
          <a:noFill/>
        </p:spPr>
        <p:txBody>
          <a:bodyPr wrap="none" rtlCol="0">
            <a:spAutoFit/>
          </a:bodyPr>
          <a:lstStyle/>
          <a:p>
            <a:r>
              <a:rPr lang="en-GB" sz="5500" b="1" i="1" dirty="0">
                <a:solidFill>
                  <a:srgbClr val="002060"/>
                </a:solidFill>
                <a:latin typeface="Montserrat Extra-Bold" panose="020B0604020202020204" charset="0"/>
                <a:cs typeface="Arial" panose="020B0604020202020204" pitchFamily="34" charset="0"/>
              </a:rPr>
              <a:t>II. </a:t>
            </a:r>
            <a:r>
              <a:rPr lang="en-GB" sz="5500" b="1" i="1" dirty="0" err="1">
                <a:solidFill>
                  <a:srgbClr val="002060"/>
                </a:solidFill>
                <a:latin typeface="Montserrat Extra-Bold" panose="020B0604020202020204" charset="0"/>
                <a:cs typeface="Arial" panose="020B0604020202020204" pitchFamily="34" charset="0"/>
              </a:rPr>
              <a:t>Cơ</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sở</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lý</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thuyết</a:t>
            </a:r>
            <a:endParaRPr lang="en-US" sz="5500" b="1" i="1" dirty="0">
              <a:solidFill>
                <a:srgbClr val="002060"/>
              </a:solidFill>
              <a:latin typeface="Montserrat Extra-Bold" panose="020B0604020202020204" charset="0"/>
              <a:cs typeface="Arial" panose="020B0604020202020204" pitchFamily="34" charset="0"/>
            </a:endParaRPr>
          </a:p>
        </p:txBody>
      </p:sp>
      <p:pic>
        <p:nvPicPr>
          <p:cNvPr id="1026" name="Picture 2" descr="PHP - Wikipedia">
            <a:extLst>
              <a:ext uri="{FF2B5EF4-FFF2-40B4-BE49-F238E27FC236}">
                <a16:creationId xmlns:a16="http://schemas.microsoft.com/office/drawing/2014/main" id="{5ACA6141-7752-7225-E52D-25EEFDF42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7447" y="5605981"/>
            <a:ext cx="7942231" cy="42888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EC24EC4-9601-DDA6-6A8E-8996CF654587}"/>
              </a:ext>
            </a:extLst>
          </p:cNvPr>
          <p:cNvSpPr txBox="1"/>
          <p:nvPr/>
        </p:nvSpPr>
        <p:spPr>
          <a:xfrm>
            <a:off x="1748882" y="1733494"/>
            <a:ext cx="16184411" cy="3785652"/>
          </a:xfrm>
          <a:prstGeom prst="rect">
            <a:avLst/>
          </a:prstGeom>
          <a:noFill/>
        </p:spPr>
        <p:txBody>
          <a:bodyPr wrap="square">
            <a:spAutoFit/>
          </a:bodyPr>
          <a:lstStyle/>
          <a:p>
            <a:r>
              <a:rPr lang="en-GB" sz="4000" b="1">
                <a:latin typeface="Arial" panose="020B0604020202020204" pitchFamily="34" charset="0"/>
                <a:cs typeface="Arial" panose="020B0604020202020204" pitchFamily="34" charset="0"/>
              </a:rPr>
              <a:t>3.PhpMyadmin</a:t>
            </a:r>
            <a:endParaRPr lang="en-GB" sz="4000" b="0" i="0" dirty="0">
              <a:effectLst/>
              <a:latin typeface="Arial" panose="020B0604020202020204" pitchFamily="34" charset="0"/>
              <a:cs typeface="Arial" panose="020B0604020202020204" pitchFamily="34" charset="0"/>
            </a:endParaRPr>
          </a:p>
          <a:p>
            <a:r>
              <a:rPr lang="vi-VN" sz="4000">
                <a:latin typeface="Arial" panose="020B0604020202020204" pitchFamily="34" charset="0"/>
                <a:cs typeface="Arial" panose="020B0604020202020204" pitchFamily="34" charset="0"/>
              </a:rPr>
              <a:t>Php</a:t>
            </a:r>
            <a:r>
              <a:rPr lang="en-GB" sz="4000">
                <a:latin typeface="Arial" panose="020B0604020202020204" pitchFamily="34" charset="0"/>
                <a:cs typeface="Arial" panose="020B0604020202020204" pitchFamily="34" charset="0"/>
              </a:rPr>
              <a:t>M</a:t>
            </a:r>
            <a:r>
              <a:rPr lang="vi-VN" sz="4000">
                <a:latin typeface="Arial" panose="020B0604020202020204" pitchFamily="34" charset="0"/>
                <a:cs typeface="Arial" panose="020B0604020202020204" pitchFamily="34" charset="0"/>
              </a:rPr>
              <a:t>yadmin là một phần mềm có mã nguồn mở được viết bằng </a:t>
            </a:r>
            <a:r>
              <a:rPr lang="vi-VN" sz="4000" u="sng">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ngôn ngữ lập trình PHP</a:t>
            </a:r>
            <a:r>
              <a:rPr lang="vi-VN" sz="4000">
                <a:latin typeface="Arial" panose="020B0604020202020204" pitchFamily="34" charset="0"/>
                <a:cs typeface="Arial" panose="020B0604020202020204" pitchFamily="34" charset="0"/>
              </a:rPr>
              <a:t>. Người sử dụng phần mềm này thường là nhà quản trị các cơ sở dữ liệu, các database administrator, thiết kế website (web designer)....</a:t>
            </a:r>
            <a:endParaRPr lang="en-US" sz="4000">
              <a:latin typeface="Arial" panose="020B0604020202020204" pitchFamily="34" charset="0"/>
              <a:cs typeface="Arial" panose="020B0604020202020204" pitchFamily="34" charset="0"/>
            </a:endParaRPr>
          </a:p>
          <a:p>
            <a:endParaRPr lang="vi-VN" sz="4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377CBCE-4E8E-7810-19DC-D762A4A92F0C}"/>
              </a:ext>
            </a:extLst>
          </p:cNvPr>
          <p:cNvSpPr txBox="1"/>
          <p:nvPr/>
        </p:nvSpPr>
        <p:spPr>
          <a:xfrm>
            <a:off x="1769664" y="1646659"/>
            <a:ext cx="16184411" cy="3785652"/>
          </a:xfrm>
          <a:prstGeom prst="rect">
            <a:avLst/>
          </a:prstGeom>
          <a:noFill/>
        </p:spPr>
        <p:txBody>
          <a:bodyPr wrap="square">
            <a:spAutoFit/>
          </a:bodyPr>
          <a:lstStyle/>
          <a:p>
            <a:r>
              <a:rPr lang="en-GB" sz="4000" b="1" dirty="0">
                <a:cs typeface="Arial" panose="020B0604020202020204" pitchFamily="34" charset="0"/>
              </a:rPr>
              <a:t>1.HTML-CSS-JavaScript</a:t>
            </a:r>
          </a:p>
          <a:p>
            <a:pPr marL="571500" indent="-571500">
              <a:buFont typeface="Arial" panose="020B0604020202020204" pitchFamily="34" charset="0"/>
              <a:buChar char="•"/>
            </a:pPr>
            <a:r>
              <a:rPr lang="vi-VN" sz="4000" dirty="0"/>
              <a:t>HTML là ngôn ngữ đánh dấu cung cấp cấu trúc cho trang web.</a:t>
            </a:r>
          </a:p>
          <a:p>
            <a:pPr marL="571500" indent="-571500">
              <a:buFont typeface="Arial" panose="020B0604020202020204" pitchFamily="34" charset="0"/>
              <a:buChar char="•"/>
            </a:pPr>
            <a:r>
              <a:rPr lang="vi-VN" sz="4000" dirty="0"/>
              <a:t>CSS là ngôn ngữ định dạng quy định giao diện và kiểu dáng của trang web.</a:t>
            </a:r>
          </a:p>
          <a:p>
            <a:pPr marL="571500" indent="-571500">
              <a:buFont typeface="Arial" panose="020B0604020202020204" pitchFamily="34" charset="0"/>
              <a:buChar char="•"/>
            </a:pPr>
            <a:r>
              <a:rPr lang="vi-VN" sz="4000" dirty="0"/>
              <a:t>JavaScript là ngôn ngữ lập trình cho phép thêm tính năng tương tác và động cho trang web.</a:t>
            </a:r>
          </a:p>
        </p:txBody>
      </p:sp>
      <p:pic>
        <p:nvPicPr>
          <p:cNvPr id="2050" name="Picture 2" descr="Thiết kế web căn bản - HTML CSS JS | Nền Tảng">
            <a:extLst>
              <a:ext uri="{FF2B5EF4-FFF2-40B4-BE49-F238E27FC236}">
                <a16:creationId xmlns:a16="http://schemas.microsoft.com/office/drawing/2014/main" id="{996E30B1-C998-282B-9041-E3D056E9F7D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10176" y="5456267"/>
            <a:ext cx="7620000" cy="42267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06EE472-DCF6-EBA1-AD4A-9C0DC2ADB3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6697" y="5805026"/>
            <a:ext cx="7651896" cy="3965404"/>
          </a:xfrm>
          <a:prstGeom prst="rect">
            <a:avLst/>
          </a:prstGeom>
        </p:spPr>
      </p:pic>
    </p:spTree>
    <p:extLst>
      <p:ext uri="{BB962C8B-B14F-4D97-AF65-F5344CB8AC3E}">
        <p14:creationId xmlns:p14="http://schemas.microsoft.com/office/powerpoint/2010/main" val="99337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randombar(horizontal)">
                                      <p:cBhvr>
                                        <p:cTn id="10" dur="500"/>
                                        <p:tgtEl>
                                          <p:spTgt spid="2050"/>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xit" presetSubtype="10" fill="hold" grpId="1" nodeType="clickEffect">
                                  <p:stCondLst>
                                    <p:cond delay="0"/>
                                  </p:stCondLst>
                                  <p:childTnLst>
                                    <p:animEffect transition="out" filter="randombar(horizontal)">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par>
                                <p:cTn id="16" presetID="14" presetClass="exit" presetSubtype="10" fill="hold" nodeType="withEffect">
                                  <p:stCondLst>
                                    <p:cond delay="0"/>
                                  </p:stCondLst>
                                  <p:childTnLst>
                                    <p:animEffect transition="out" filter="randombar(horizontal)">
                                      <p:cBhvr>
                                        <p:cTn id="17" dur="500"/>
                                        <p:tgtEl>
                                          <p:spTgt spid="2050"/>
                                        </p:tgtEl>
                                      </p:cBhvr>
                                    </p:animEffect>
                                    <p:set>
                                      <p:cBhvr>
                                        <p:cTn id="18" dur="1" fill="hold">
                                          <p:stCondLst>
                                            <p:cond delay="499"/>
                                          </p:stCondLst>
                                        </p:cTn>
                                        <p:tgtEl>
                                          <p:spTgt spid="2050"/>
                                        </p:tgtEl>
                                        <p:attrNameLst>
                                          <p:attrName>style.visibility</p:attrName>
                                        </p:attrNameLst>
                                      </p:cBhvr>
                                      <p:to>
                                        <p:strVal val="hidden"/>
                                      </p:to>
                                    </p:set>
                                  </p:childTnLst>
                                </p:cTn>
                              </p:par>
                            </p:childTnLst>
                          </p:cTn>
                        </p:par>
                        <p:par>
                          <p:cTn id="19" fill="hold">
                            <p:stCondLst>
                              <p:cond delay="500"/>
                            </p:stCondLst>
                            <p:childTnLst>
                              <p:par>
                                <p:cTn id="20" presetID="14" presetClass="entr" presetSubtype="10"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randombar(horizontal)">
                                      <p:cBhvr>
                                        <p:cTn id="22" dur="500"/>
                                        <p:tgtEl>
                                          <p:spTgt spid="22"/>
                                        </p:tgtEl>
                                      </p:cBhvr>
                                    </p:animEffect>
                                  </p:childTnLst>
                                </p:cTn>
                              </p:par>
                              <p:par>
                                <p:cTn id="23" presetID="14" presetClass="entr" presetSubtype="10" fill="hold" nodeType="with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randombar(horizontal)">
                                      <p:cBhvr>
                                        <p:cTn id="25" dur="500"/>
                                        <p:tgtEl>
                                          <p:spTgt spid="1026"/>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xit" presetSubtype="10" fill="hold" grpId="1" nodeType="clickEffect">
                                  <p:stCondLst>
                                    <p:cond delay="0"/>
                                  </p:stCondLst>
                                  <p:childTnLst>
                                    <p:animEffect transition="out" filter="randombar(horizontal)">
                                      <p:cBhvr>
                                        <p:cTn id="29" dur="500"/>
                                        <p:tgtEl>
                                          <p:spTgt spid="22"/>
                                        </p:tgtEl>
                                      </p:cBhvr>
                                    </p:animEffect>
                                    <p:set>
                                      <p:cBhvr>
                                        <p:cTn id="30" dur="1" fill="hold">
                                          <p:stCondLst>
                                            <p:cond delay="499"/>
                                          </p:stCondLst>
                                        </p:cTn>
                                        <p:tgtEl>
                                          <p:spTgt spid="22"/>
                                        </p:tgtEl>
                                        <p:attrNameLst>
                                          <p:attrName>style.visibility</p:attrName>
                                        </p:attrNameLst>
                                      </p:cBhvr>
                                      <p:to>
                                        <p:strVal val="hidden"/>
                                      </p:to>
                                    </p:set>
                                  </p:childTnLst>
                                </p:cTn>
                              </p:par>
                              <p:par>
                                <p:cTn id="31" presetID="14" presetClass="exit" presetSubtype="10" fill="hold" nodeType="withEffect">
                                  <p:stCondLst>
                                    <p:cond delay="0"/>
                                  </p:stCondLst>
                                  <p:childTnLst>
                                    <p:animEffect transition="out" filter="randombar(horizontal)">
                                      <p:cBhvr>
                                        <p:cTn id="32" dur="500"/>
                                        <p:tgtEl>
                                          <p:spTgt spid="1026"/>
                                        </p:tgtEl>
                                      </p:cBhvr>
                                    </p:animEffect>
                                    <p:set>
                                      <p:cBhvr>
                                        <p:cTn id="33" dur="1" fill="hold">
                                          <p:stCondLst>
                                            <p:cond delay="499"/>
                                          </p:stCondLst>
                                        </p:cTn>
                                        <p:tgtEl>
                                          <p:spTgt spid="1026"/>
                                        </p:tgtEl>
                                        <p:attrNameLst>
                                          <p:attrName>style.visibility</p:attrName>
                                        </p:attrNameLst>
                                      </p:cBhvr>
                                      <p:to>
                                        <p:strVal val="hidden"/>
                                      </p:to>
                                    </p:set>
                                  </p:childTnLst>
                                </p:cTn>
                              </p:par>
                            </p:childTnLst>
                          </p:cTn>
                        </p:par>
                        <p:par>
                          <p:cTn id="34" fill="hold">
                            <p:stCondLst>
                              <p:cond delay="500"/>
                            </p:stCondLst>
                            <p:childTnLst>
                              <p:par>
                                <p:cTn id="35" presetID="14" presetClass="entr" presetSubtype="10"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randombar(horizontal)">
                                      <p:cBhvr>
                                        <p:cTn id="37" dur="500"/>
                                        <p:tgtEl>
                                          <p:spTgt spid="6"/>
                                        </p:tgtEl>
                                      </p:cBhvr>
                                    </p:animEffect>
                                  </p:childTnLst>
                                </p:cTn>
                              </p:par>
                              <p:par>
                                <p:cTn id="38" presetID="14" presetClass="entr" presetSubtype="1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randombar(horizontal)">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6" grpId="0"/>
      <p:bldP spid="5" grpId="0"/>
      <p:bldP spid="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 name="TextBox 1">
            <a:extLst>
              <a:ext uri="{FF2B5EF4-FFF2-40B4-BE49-F238E27FC236}">
                <a16:creationId xmlns:a16="http://schemas.microsoft.com/office/drawing/2014/main" id="{82EC3115-DB29-0AB2-8534-E5A359A6E708}"/>
              </a:ext>
            </a:extLst>
          </p:cNvPr>
          <p:cNvSpPr txBox="1"/>
          <p:nvPr/>
        </p:nvSpPr>
        <p:spPr>
          <a:xfrm>
            <a:off x="1503423" y="860257"/>
            <a:ext cx="6688049" cy="938719"/>
          </a:xfrm>
          <a:prstGeom prst="rect">
            <a:avLst/>
          </a:prstGeom>
          <a:noFill/>
        </p:spPr>
        <p:txBody>
          <a:bodyPr wrap="none" rtlCol="0">
            <a:spAutoFit/>
          </a:bodyPr>
          <a:lstStyle/>
          <a:p>
            <a:r>
              <a:rPr lang="en-GB" sz="5500" b="1" i="1" dirty="0">
                <a:solidFill>
                  <a:srgbClr val="002060"/>
                </a:solidFill>
                <a:latin typeface="Montserrat Extra-Bold" panose="020B0604020202020204" charset="0"/>
                <a:cs typeface="Arial" panose="020B0604020202020204" pitchFamily="34" charset="0"/>
              </a:rPr>
              <a:t>II. </a:t>
            </a:r>
            <a:r>
              <a:rPr lang="en-GB" sz="5500" b="1" i="1" dirty="0" err="1">
                <a:solidFill>
                  <a:srgbClr val="002060"/>
                </a:solidFill>
                <a:latin typeface="Montserrat Extra-Bold" panose="020B0604020202020204" charset="0"/>
                <a:cs typeface="Arial" panose="020B0604020202020204" pitchFamily="34" charset="0"/>
              </a:rPr>
              <a:t>Cơ</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sở</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lý</a:t>
            </a:r>
            <a:r>
              <a:rPr lang="en-GB" sz="5500" b="1" i="1" dirty="0">
                <a:solidFill>
                  <a:srgbClr val="002060"/>
                </a:solidFill>
                <a:latin typeface="Montserrat Extra-Bold" panose="020B0604020202020204" charset="0"/>
                <a:cs typeface="Arial" panose="020B0604020202020204" pitchFamily="34" charset="0"/>
              </a:rPr>
              <a:t> </a:t>
            </a:r>
            <a:r>
              <a:rPr lang="en-GB" sz="5500" b="1" i="1" dirty="0" err="1">
                <a:solidFill>
                  <a:srgbClr val="002060"/>
                </a:solidFill>
                <a:latin typeface="Montserrat Extra-Bold" panose="020B0604020202020204" charset="0"/>
                <a:cs typeface="Arial" panose="020B0604020202020204" pitchFamily="34" charset="0"/>
              </a:rPr>
              <a:t>thuyết</a:t>
            </a:r>
            <a:endParaRPr lang="en-US" sz="5500" b="1" i="1" dirty="0">
              <a:solidFill>
                <a:srgbClr val="002060"/>
              </a:solidFill>
              <a:latin typeface="Montserrat Extra-Bold" panose="020B0604020202020204" charset="0"/>
              <a:cs typeface="Arial" panose="020B0604020202020204" pitchFamily="34" charset="0"/>
            </a:endParaRPr>
          </a:p>
        </p:txBody>
      </p:sp>
      <p:sp>
        <p:nvSpPr>
          <p:cNvPr id="6" name="TextBox 5">
            <a:extLst>
              <a:ext uri="{FF2B5EF4-FFF2-40B4-BE49-F238E27FC236}">
                <a16:creationId xmlns:a16="http://schemas.microsoft.com/office/drawing/2014/main" id="{8EC24EC4-9601-DDA6-6A8E-8996CF654587}"/>
              </a:ext>
            </a:extLst>
          </p:cNvPr>
          <p:cNvSpPr txBox="1"/>
          <p:nvPr/>
        </p:nvSpPr>
        <p:spPr>
          <a:xfrm>
            <a:off x="1503423" y="1662888"/>
            <a:ext cx="16184411" cy="4401205"/>
          </a:xfrm>
          <a:prstGeom prst="rect">
            <a:avLst/>
          </a:prstGeom>
          <a:noFill/>
        </p:spPr>
        <p:txBody>
          <a:bodyPr wrap="square">
            <a:spAutoFit/>
          </a:bodyPr>
          <a:lstStyle/>
          <a:p>
            <a:r>
              <a:rPr lang="en-GB" sz="4000" b="1">
                <a:latin typeface="Arial" panose="020B0604020202020204" pitchFamily="34" charset="0"/>
                <a:cs typeface="Arial" panose="020B0604020202020204" pitchFamily="34" charset="0"/>
              </a:rPr>
              <a:t>4. MQTT</a:t>
            </a:r>
            <a:endParaRPr lang="en-GB" sz="4000" b="0" i="0">
              <a:effectLst/>
              <a:latin typeface="Arial" panose="020B0604020202020204" pitchFamily="34" charset="0"/>
              <a:cs typeface="Arial" panose="020B0604020202020204" pitchFamily="34" charset="0"/>
            </a:endParaRPr>
          </a:p>
          <a:p>
            <a:r>
              <a:rPr lang="en-US" sz="4000">
                <a:latin typeface="Arial" panose="020B0604020202020204" pitchFamily="34" charset="0"/>
                <a:cs typeface="Arial" panose="020B0604020202020204" pitchFamily="34" charset="0"/>
              </a:rPr>
              <a:t>MQTT là cụm từ viết tắt từ Message Queueing Telemetry Transport (tạm dịch là giao thức truyền tin nhắn/thông điệp). Được sử dụng theo mô hình publish/subscribe – là một trong những giải pháp tiêu chuẩn của IoT (Internet of Things) vì quá trình truyền tải của MQTT rất nhẹ, lý tưởng để sử dụng cho các ứng dụng IoT.</a:t>
            </a:r>
          </a:p>
          <a:p>
            <a:endParaRPr lang="vi-VN" sz="4000" dirty="0">
              <a:latin typeface="Arial" panose="020B0604020202020204" pitchFamily="34" charset="0"/>
              <a:cs typeface="Arial" panose="020B0604020202020204" pitchFamily="34" charset="0"/>
            </a:endParaRPr>
          </a:p>
        </p:txBody>
      </p:sp>
      <p:pic>
        <p:nvPicPr>
          <p:cNvPr id="1028" name="Picture 4" descr="What is MQTT">
            <a:extLst>
              <a:ext uri="{FF2B5EF4-FFF2-40B4-BE49-F238E27FC236}">
                <a16:creationId xmlns:a16="http://schemas.microsoft.com/office/drawing/2014/main" id="{417124D2-5B19-90D9-8DED-9EDDDFEA7B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5448300"/>
            <a:ext cx="7620000" cy="42862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P-Cow ESP32 modulo WiFi Placa de Desarrollo, ESP-WROOM-32 ESP-32 ESP-32S  2.4GHz WiFi + Bluetooth Modo Dual Módulo de Antena con Ultra Low Power (1  Pack) 1 : Amazon.es: Informática">
            <a:extLst>
              <a:ext uri="{FF2B5EF4-FFF2-40B4-BE49-F238E27FC236}">
                <a16:creationId xmlns:a16="http://schemas.microsoft.com/office/drawing/2014/main" id="{9515101F-30B6-D9B3-1A22-7C0BA7D92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4695" y="5402063"/>
            <a:ext cx="7620000" cy="455154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E64B632-EC3E-55D2-43C1-94DE1936F471}"/>
              </a:ext>
            </a:extLst>
          </p:cNvPr>
          <p:cNvSpPr txBox="1"/>
          <p:nvPr/>
        </p:nvSpPr>
        <p:spPr>
          <a:xfrm>
            <a:off x="1503423" y="1678992"/>
            <a:ext cx="16230600" cy="3170099"/>
          </a:xfrm>
          <a:prstGeom prst="rect">
            <a:avLst/>
          </a:prstGeom>
          <a:noFill/>
        </p:spPr>
        <p:txBody>
          <a:bodyPr wrap="square">
            <a:spAutoFit/>
          </a:bodyPr>
          <a:lstStyle/>
          <a:p>
            <a:r>
              <a:rPr lang="en-GB" sz="4000" b="1">
                <a:latin typeface="Arial" panose="020B0604020202020204" pitchFamily="34" charset="0"/>
                <a:cs typeface="Arial" panose="020B0604020202020204" pitchFamily="34" charset="0"/>
              </a:rPr>
              <a:t>5. ESP32</a:t>
            </a:r>
            <a:br>
              <a:rPr lang="vi-VN" sz="4000">
                <a:latin typeface="Arial" panose="020B0604020202020204" pitchFamily="34" charset="0"/>
                <a:cs typeface="Arial" panose="020B0604020202020204" pitchFamily="34" charset="0"/>
              </a:rPr>
            </a:br>
            <a:r>
              <a:rPr lang="vi-VN" sz="4000" b="0" i="0">
                <a:effectLst/>
                <a:latin typeface="Arial" panose="020B0604020202020204" pitchFamily="34" charset="0"/>
                <a:cs typeface="Arial" panose="020B0604020202020204" pitchFamily="34" charset="0"/>
              </a:rPr>
              <a:t>ESP32 là một dòng vi điều khiển (microcontroller) và mô-đun IoT được sản xuất bởi công ty Espressif Systems. Được phát triển như là một phiên bản nâng cấp từ ESP8266, ESP32 có nhiều tính năng mạnh mẽ hơn và cung cấp khả năng kết nối Internet và IoT đa dạng.</a:t>
            </a:r>
            <a:endParaRPr lang="vi-VN"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1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1028"/>
                                        </p:tgtEl>
                                        <p:attrNameLst>
                                          <p:attrName>style.visibility</p:attrName>
                                        </p:attrNameLst>
                                      </p:cBhvr>
                                      <p:to>
                                        <p:strVal val="visible"/>
                                      </p:to>
                                    </p:set>
                                    <p:animEffect transition="in" filter="randombar(horizontal)">
                                      <p:cBhvr>
                                        <p:cTn id="10" dur="500"/>
                                        <p:tgtEl>
                                          <p:spTgt spid="102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xit" presetSubtype="10" fill="hold" grpId="1" nodeType="clickEffect">
                                  <p:stCondLst>
                                    <p:cond delay="0"/>
                                  </p:stCondLst>
                                  <p:childTnLst>
                                    <p:animEffect transition="out" filter="randombar(horizontal)">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par>
                                <p:cTn id="16" presetID="14" presetClass="exit" presetSubtype="10" fill="hold" nodeType="withEffect">
                                  <p:stCondLst>
                                    <p:cond delay="0"/>
                                  </p:stCondLst>
                                  <p:childTnLst>
                                    <p:animEffect transition="out" filter="randombar(horizontal)">
                                      <p:cBhvr>
                                        <p:cTn id="17" dur="500"/>
                                        <p:tgtEl>
                                          <p:spTgt spid="1028"/>
                                        </p:tgtEl>
                                      </p:cBhvr>
                                    </p:animEffect>
                                    <p:set>
                                      <p:cBhvr>
                                        <p:cTn id="18" dur="1" fill="hold">
                                          <p:stCondLst>
                                            <p:cond delay="499"/>
                                          </p:stCondLst>
                                        </p:cTn>
                                        <p:tgtEl>
                                          <p:spTgt spid="1028"/>
                                        </p:tgtEl>
                                        <p:attrNameLst>
                                          <p:attrName>style.visibility</p:attrName>
                                        </p:attrNameLst>
                                      </p:cBhvr>
                                      <p:to>
                                        <p:strVal val="hidden"/>
                                      </p:to>
                                    </p:set>
                                  </p:childTnLst>
                                </p:cTn>
                              </p:par>
                              <p:par>
                                <p:cTn id="19" presetID="14"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nodeType="withEffect">
                                  <p:stCondLst>
                                    <p:cond delay="0"/>
                                  </p:stCondLst>
                                  <p:childTnLst>
                                    <p:set>
                                      <p:cBhvr>
                                        <p:cTn id="23" dur="1" fill="hold">
                                          <p:stCondLst>
                                            <p:cond delay="0"/>
                                          </p:stCondLst>
                                        </p:cTn>
                                        <p:tgtEl>
                                          <p:spTgt spid="1030"/>
                                        </p:tgtEl>
                                        <p:attrNameLst>
                                          <p:attrName>style.visibility</p:attrName>
                                        </p:attrNameLst>
                                      </p:cBhvr>
                                      <p:to>
                                        <p:strVal val="visible"/>
                                      </p:to>
                                    </p:set>
                                    <p:animEffect transition="in" filter="randombar(horizontal)">
                                      <p:cBhvr>
                                        <p:cTn id="24"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8550739"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III. Giới thiệu hệ thống</a:t>
            </a:r>
            <a:endParaRPr lang="en-US" sz="5500" b="1" i="1" dirty="0">
              <a:solidFill>
                <a:srgbClr val="002060"/>
              </a:solidFill>
              <a:latin typeface="Montserrat Extra-Bold" panose="020B0604020202020204" charset="0"/>
              <a:cs typeface="Arial" panose="020B0604020202020204" pitchFamily="34" charset="0"/>
            </a:endParaRPr>
          </a:p>
        </p:txBody>
      </p:sp>
      <p:sp>
        <p:nvSpPr>
          <p:cNvPr id="8" name="TextBox 7">
            <a:extLst>
              <a:ext uri="{FF2B5EF4-FFF2-40B4-BE49-F238E27FC236}">
                <a16:creationId xmlns:a16="http://schemas.microsoft.com/office/drawing/2014/main" id="{8FE5B345-C67A-C0F4-2FDA-5E47B777A0F2}"/>
              </a:ext>
            </a:extLst>
          </p:cNvPr>
          <p:cNvSpPr txBox="1"/>
          <p:nvPr/>
        </p:nvSpPr>
        <p:spPr>
          <a:xfrm>
            <a:off x="1676400" y="1104900"/>
            <a:ext cx="16459200" cy="1754326"/>
          </a:xfrm>
          <a:prstGeom prst="rect">
            <a:avLst/>
          </a:prstGeom>
          <a:noFill/>
        </p:spPr>
        <p:txBody>
          <a:bodyPr wrap="square">
            <a:spAutoFit/>
          </a:bodyPr>
          <a:lstStyle/>
          <a:p>
            <a:endParaRPr lang="en-GB" sz="5400">
              <a:latin typeface="Arial" panose="020B0604020202020204" pitchFamily="34" charset="0"/>
              <a:cs typeface="Arial" panose="020B0604020202020204" pitchFamily="34" charset="0"/>
            </a:endParaRPr>
          </a:p>
          <a:p>
            <a:r>
              <a:rPr lang="en-GB" sz="5400">
                <a:latin typeface="Arial" panose="020B0604020202020204" pitchFamily="34" charset="0"/>
                <a:cs typeface="Arial" panose="020B0604020202020204" pitchFamily="34" charset="0"/>
              </a:rPr>
              <a:t>Sơ đồ đường đi của dữ liệu</a:t>
            </a:r>
          </a:p>
        </p:txBody>
      </p:sp>
      <p:pic>
        <p:nvPicPr>
          <p:cNvPr id="5" name="Picture 4">
            <a:extLst>
              <a:ext uri="{FF2B5EF4-FFF2-40B4-BE49-F238E27FC236}">
                <a16:creationId xmlns:a16="http://schemas.microsoft.com/office/drawing/2014/main" id="{1CE16FF7-6B79-81C0-9827-182B1A23C55D}"/>
              </a:ext>
            </a:extLst>
          </p:cNvPr>
          <p:cNvPicPr>
            <a:picLocks noChangeAspect="1"/>
          </p:cNvPicPr>
          <p:nvPr/>
        </p:nvPicPr>
        <p:blipFill>
          <a:blip r:embed="rId2"/>
          <a:stretch>
            <a:fillRect/>
          </a:stretch>
        </p:blipFill>
        <p:spPr>
          <a:xfrm>
            <a:off x="2297205" y="3103869"/>
            <a:ext cx="13693590" cy="6840231"/>
          </a:xfrm>
          <a:prstGeom prst="rect">
            <a:avLst/>
          </a:prstGeom>
        </p:spPr>
      </p:pic>
    </p:spTree>
    <p:extLst>
      <p:ext uri="{BB962C8B-B14F-4D97-AF65-F5344CB8AC3E}">
        <p14:creationId xmlns:p14="http://schemas.microsoft.com/office/powerpoint/2010/main" val="4238438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8550739"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III. Giới thiệu hệ thống</a:t>
            </a:r>
            <a:endParaRPr lang="en-US" sz="5500" b="1" i="1" dirty="0">
              <a:solidFill>
                <a:srgbClr val="002060"/>
              </a:solidFill>
              <a:latin typeface="Montserrat Extra-Bold" panose="020B0604020202020204" charset="0"/>
              <a:cs typeface="Arial" panose="020B0604020202020204" pitchFamily="34" charset="0"/>
            </a:endParaRPr>
          </a:p>
        </p:txBody>
      </p:sp>
      <p:sp>
        <p:nvSpPr>
          <p:cNvPr id="8" name="TextBox 7">
            <a:extLst>
              <a:ext uri="{FF2B5EF4-FFF2-40B4-BE49-F238E27FC236}">
                <a16:creationId xmlns:a16="http://schemas.microsoft.com/office/drawing/2014/main" id="{8FE5B345-C67A-C0F4-2FDA-5E47B777A0F2}"/>
              </a:ext>
            </a:extLst>
          </p:cNvPr>
          <p:cNvSpPr txBox="1"/>
          <p:nvPr/>
        </p:nvSpPr>
        <p:spPr>
          <a:xfrm>
            <a:off x="1475945" y="2019300"/>
            <a:ext cx="16459200" cy="3416320"/>
          </a:xfrm>
          <a:prstGeom prst="rect">
            <a:avLst/>
          </a:prstGeom>
          <a:noFill/>
        </p:spPr>
        <p:txBody>
          <a:bodyPr wrap="square">
            <a:spAutoFit/>
          </a:bodyPr>
          <a:lstStyle/>
          <a:p>
            <a:endParaRPr lang="en-GB" sz="5400">
              <a:latin typeface="Arial" panose="020B0604020202020204" pitchFamily="34" charset="0"/>
              <a:cs typeface="Arial" panose="020B0604020202020204" pitchFamily="34" charset="0"/>
            </a:endParaRPr>
          </a:p>
          <a:p>
            <a:r>
              <a:rPr lang="en-GB" sz="5400">
                <a:latin typeface="Arial" panose="020B0604020202020204" pitchFamily="34" charset="0"/>
                <a:cs typeface="Arial" panose="020B0604020202020204" pitchFamily="34" charset="0"/>
              </a:rPr>
              <a:t>Hệ thống được chia làm 2 phần:</a:t>
            </a:r>
          </a:p>
          <a:p>
            <a:pPr marL="914400" indent="-914400">
              <a:buFont typeface="+mj-lt"/>
              <a:buAutoNum type="arabicPeriod"/>
            </a:pPr>
            <a:r>
              <a:rPr lang="en-GB" sz="5400">
                <a:latin typeface="Arial" panose="020B0604020202020204" pitchFamily="34" charset="0"/>
                <a:cs typeface="Arial" panose="020B0604020202020204" pitchFamily="34" charset="0"/>
              </a:rPr>
              <a:t>Bo mạch mô phỏng hệ thống vườn thông minh</a:t>
            </a:r>
          </a:p>
          <a:p>
            <a:pPr marL="914400" indent="-914400">
              <a:buFont typeface="+mj-lt"/>
              <a:buAutoNum type="arabicPeriod"/>
            </a:pPr>
            <a:r>
              <a:rPr lang="en-GB" sz="5400">
                <a:latin typeface="Arial" panose="020B0604020202020204" pitchFamily="34" charset="0"/>
                <a:cs typeface="Arial" panose="020B0604020202020204" pitchFamily="34" charset="0"/>
              </a:rPr>
              <a:t>Website hệ thống vườn thông minh</a:t>
            </a:r>
            <a:endParaRPr lang="vi-VN" sz="5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0260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403110" y="1638300"/>
            <a:ext cx="15856190" cy="1862048"/>
          </a:xfrm>
          <a:prstGeom prst="rect">
            <a:avLst/>
          </a:prstGeom>
          <a:noFill/>
        </p:spPr>
        <p:txBody>
          <a:bodyPr wrap="square" lIns="91440" tIns="45720" rIns="91440" bIns="45720" anchor="t">
            <a:spAutoFit/>
          </a:bodyPr>
          <a:lstStyle/>
          <a:p>
            <a:r>
              <a:rPr lang="en-GB" sz="5000" b="1">
                <a:latin typeface="Arial" panose="020B0604020202020204" pitchFamily="34" charset="0"/>
                <a:cs typeface="Arial" panose="020B0604020202020204" pitchFamily="34" charset="0"/>
              </a:rPr>
              <a:t>1.Bo mạch mô phỏng hệ thống vườn thông minh</a:t>
            </a:r>
          </a:p>
          <a:p>
            <a:endParaRPr lang="en-GB" sz="2500" b="1" dirty="0">
              <a:latin typeface="Arial" panose="020B0604020202020204" pitchFamily="34" charset="0"/>
              <a:cs typeface="Arial" panose="020B0604020202020204" pitchFamily="34" charset="0"/>
            </a:endParaRPr>
          </a:p>
          <a:p>
            <a:endParaRPr lang="vi-VN" sz="4000" dirty="0"/>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8550739"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III. Giới thiệu hệ thống</a:t>
            </a:r>
            <a:endParaRPr lang="en-US" sz="5500" b="1" i="1" dirty="0">
              <a:solidFill>
                <a:srgbClr val="002060"/>
              </a:solidFill>
              <a:latin typeface="Montserrat Extra-Bold" panose="020B0604020202020204" charset="0"/>
              <a:cs typeface="Arial" panose="020B0604020202020204" pitchFamily="34" charset="0"/>
            </a:endParaRPr>
          </a:p>
        </p:txBody>
      </p:sp>
      <p:graphicFrame>
        <p:nvGraphicFramePr>
          <p:cNvPr id="5" name="Table 4">
            <a:extLst>
              <a:ext uri="{FF2B5EF4-FFF2-40B4-BE49-F238E27FC236}">
                <a16:creationId xmlns:a16="http://schemas.microsoft.com/office/drawing/2014/main" id="{14D75478-A1F8-CD6E-3550-1F3DCFBC2F45}"/>
              </a:ext>
            </a:extLst>
          </p:cNvPr>
          <p:cNvGraphicFramePr>
            <a:graphicFrameLocks noGrp="1"/>
          </p:cNvGraphicFramePr>
          <p:nvPr>
            <p:extLst>
              <p:ext uri="{D42A27DB-BD31-4B8C-83A1-F6EECF244321}">
                <p14:modId xmlns:p14="http://schemas.microsoft.com/office/powerpoint/2010/main" val="3958603859"/>
              </p:ext>
            </p:extLst>
          </p:nvPr>
        </p:nvGraphicFramePr>
        <p:xfrm>
          <a:off x="2778005" y="3099049"/>
          <a:ext cx="13106400" cy="5483352"/>
        </p:xfrm>
        <a:graphic>
          <a:graphicData uri="http://schemas.openxmlformats.org/drawingml/2006/table">
            <a:tbl>
              <a:tblPr firstRow="1" bandRow="1">
                <a:tableStyleId>{5C22544A-7EE6-4342-B048-85BDC9FD1C3A}</a:tableStyleId>
              </a:tblPr>
              <a:tblGrid>
                <a:gridCol w="6553200">
                  <a:extLst>
                    <a:ext uri="{9D8B030D-6E8A-4147-A177-3AD203B41FA5}">
                      <a16:colId xmlns:a16="http://schemas.microsoft.com/office/drawing/2014/main" val="685536156"/>
                    </a:ext>
                  </a:extLst>
                </a:gridCol>
                <a:gridCol w="6553200">
                  <a:extLst>
                    <a:ext uri="{9D8B030D-6E8A-4147-A177-3AD203B41FA5}">
                      <a16:colId xmlns:a16="http://schemas.microsoft.com/office/drawing/2014/main" val="838276088"/>
                    </a:ext>
                  </a:extLst>
                </a:gridCol>
              </a:tblGrid>
              <a:tr h="4863851">
                <a:tc>
                  <a:txBody>
                    <a:bodyPr/>
                    <a:lstStyle/>
                    <a:p>
                      <a:pPr algn="ctr">
                        <a:lnSpc>
                          <a:spcPct val="150000"/>
                        </a:lnSpc>
                      </a:pPr>
                      <a:r>
                        <a:rPr lang="en-GB" sz="4000">
                          <a:solidFill>
                            <a:schemeClr val="tx1"/>
                          </a:solidFill>
                          <a:latin typeface="Arial" panose="020B0604020202020204" pitchFamily="34" charset="0"/>
                          <a:cs typeface="Arial" panose="020B0604020202020204" pitchFamily="34" charset="0"/>
                        </a:rPr>
                        <a:t>4 cảm biến </a:t>
                      </a:r>
                    </a:p>
                    <a:p>
                      <a:pPr marL="685800" indent="-685800" algn="l">
                        <a:lnSpc>
                          <a:spcPct val="150000"/>
                        </a:lnSpc>
                        <a:buFont typeface="Arial" panose="020B0604020202020204" pitchFamily="34" charset="0"/>
                        <a:buChar char="•"/>
                      </a:pPr>
                      <a:r>
                        <a:rPr lang="en-GB" sz="4000" b="0">
                          <a:solidFill>
                            <a:schemeClr val="tx1"/>
                          </a:solidFill>
                          <a:latin typeface="Arial" panose="020B0604020202020204" pitchFamily="34" charset="0"/>
                          <a:cs typeface="Arial" panose="020B0604020202020204" pitchFamily="34" charset="0"/>
                        </a:rPr>
                        <a:t>Cảm biến nhiệt độ</a:t>
                      </a:r>
                    </a:p>
                    <a:p>
                      <a:pPr marL="685800" indent="-685800" algn="l">
                        <a:lnSpc>
                          <a:spcPct val="150000"/>
                        </a:lnSpc>
                        <a:buFont typeface="Arial" panose="020B0604020202020204" pitchFamily="34" charset="0"/>
                        <a:buChar char="•"/>
                      </a:pPr>
                      <a:r>
                        <a:rPr lang="en-GB" sz="4000" b="0">
                          <a:solidFill>
                            <a:schemeClr val="tx1"/>
                          </a:solidFill>
                          <a:latin typeface="Arial" panose="020B0604020202020204" pitchFamily="34" charset="0"/>
                          <a:cs typeface="Arial" panose="020B0604020202020204" pitchFamily="34" charset="0"/>
                        </a:rPr>
                        <a:t>Cảm biến độ ẩm đất</a:t>
                      </a:r>
                    </a:p>
                    <a:p>
                      <a:pPr marL="685800" indent="-685800" algn="l">
                        <a:lnSpc>
                          <a:spcPct val="150000"/>
                        </a:lnSpc>
                        <a:buFont typeface="Arial" panose="020B0604020202020204" pitchFamily="34" charset="0"/>
                        <a:buChar char="•"/>
                      </a:pPr>
                      <a:r>
                        <a:rPr lang="en-GB" sz="4000" b="0">
                          <a:solidFill>
                            <a:schemeClr val="tx1"/>
                          </a:solidFill>
                          <a:latin typeface="Arial" panose="020B0604020202020204" pitchFamily="34" charset="0"/>
                          <a:cs typeface="Arial" panose="020B0604020202020204" pitchFamily="34" charset="0"/>
                        </a:rPr>
                        <a:t>Cảm biến mưa</a:t>
                      </a:r>
                    </a:p>
                    <a:p>
                      <a:pPr marL="685800" indent="-685800" algn="l">
                        <a:lnSpc>
                          <a:spcPct val="150000"/>
                        </a:lnSpc>
                        <a:buFont typeface="Arial" panose="020B0604020202020204" pitchFamily="34" charset="0"/>
                        <a:buChar char="•"/>
                      </a:pPr>
                      <a:r>
                        <a:rPr lang="en-GB" sz="4000" b="0">
                          <a:solidFill>
                            <a:schemeClr val="tx1"/>
                          </a:solidFill>
                          <a:latin typeface="Arial" panose="020B0604020202020204" pitchFamily="34" charset="0"/>
                          <a:cs typeface="Arial" panose="020B0604020202020204" pitchFamily="34" charset="0"/>
                        </a:rPr>
                        <a:t>Cảm biến ánh sáng</a:t>
                      </a:r>
                    </a:p>
                    <a:p>
                      <a:pPr algn="l">
                        <a:lnSpc>
                          <a:spcPct val="150000"/>
                        </a:lnSpc>
                      </a:pPr>
                      <a:endParaRPr lang="en-US" sz="4000">
                        <a:solidFill>
                          <a:schemeClr val="tx1"/>
                        </a:solidFill>
                      </a:endParaRPr>
                    </a:p>
                  </a:txBody>
                  <a:tcPr>
                    <a:solidFill>
                      <a:schemeClr val="bg1">
                        <a:lumMod val="75000"/>
                      </a:schemeClr>
                    </a:solidFill>
                  </a:tcPr>
                </a:tc>
                <a:tc>
                  <a:txBody>
                    <a:bodyPr/>
                    <a:lstStyle/>
                    <a:p>
                      <a:pPr algn="ctr">
                        <a:lnSpc>
                          <a:spcPct val="150000"/>
                        </a:lnSpc>
                      </a:pPr>
                      <a:r>
                        <a:rPr lang="en-GB" sz="4000">
                          <a:solidFill>
                            <a:schemeClr val="tx1"/>
                          </a:solidFill>
                          <a:latin typeface="Arial" panose="020B0604020202020204" pitchFamily="34" charset="0"/>
                          <a:cs typeface="Arial" panose="020B0604020202020204" pitchFamily="34" charset="0"/>
                        </a:rPr>
                        <a:t>4 thiết bị </a:t>
                      </a:r>
                    </a:p>
                    <a:p>
                      <a:pPr marL="685800" indent="-685800" algn="l">
                        <a:lnSpc>
                          <a:spcPct val="150000"/>
                        </a:lnSpc>
                        <a:buFont typeface="Arial" panose="020B0604020202020204" pitchFamily="34" charset="0"/>
                        <a:buChar char="•"/>
                      </a:pPr>
                      <a:r>
                        <a:rPr lang="en-GB" sz="4000" b="0">
                          <a:solidFill>
                            <a:schemeClr val="tx1"/>
                          </a:solidFill>
                          <a:latin typeface="Arial" panose="020B0604020202020204" pitchFamily="34" charset="0"/>
                          <a:cs typeface="Arial" panose="020B0604020202020204" pitchFamily="34" charset="0"/>
                        </a:rPr>
                        <a:t>Đèn sưởi</a:t>
                      </a:r>
                    </a:p>
                    <a:p>
                      <a:pPr marL="685800" indent="-685800" algn="l">
                        <a:lnSpc>
                          <a:spcPct val="150000"/>
                        </a:lnSpc>
                        <a:buFont typeface="Arial" panose="020B0604020202020204" pitchFamily="34" charset="0"/>
                        <a:buChar char="•"/>
                      </a:pPr>
                      <a:r>
                        <a:rPr lang="en-GB" sz="4000" b="0">
                          <a:solidFill>
                            <a:schemeClr val="tx1"/>
                          </a:solidFill>
                          <a:latin typeface="Arial" panose="020B0604020202020204" pitchFamily="34" charset="0"/>
                          <a:cs typeface="Arial" panose="020B0604020202020204" pitchFamily="34" charset="0"/>
                        </a:rPr>
                        <a:t>Motor</a:t>
                      </a:r>
                    </a:p>
                    <a:p>
                      <a:pPr marL="685800" indent="-685800" algn="l">
                        <a:lnSpc>
                          <a:spcPct val="150000"/>
                        </a:lnSpc>
                        <a:buFont typeface="Arial" panose="020B0604020202020204" pitchFamily="34" charset="0"/>
                        <a:buChar char="•"/>
                      </a:pPr>
                      <a:r>
                        <a:rPr lang="en-GB" sz="4000" b="0">
                          <a:solidFill>
                            <a:schemeClr val="tx1"/>
                          </a:solidFill>
                          <a:latin typeface="Arial" panose="020B0604020202020204" pitchFamily="34" charset="0"/>
                          <a:cs typeface="Arial" panose="020B0604020202020204" pitchFamily="34" charset="0"/>
                        </a:rPr>
                        <a:t>Rèm che</a:t>
                      </a:r>
                    </a:p>
                    <a:p>
                      <a:pPr marL="685800" indent="-685800" algn="l">
                        <a:lnSpc>
                          <a:spcPct val="150000"/>
                        </a:lnSpc>
                        <a:buFont typeface="Arial" panose="020B0604020202020204" pitchFamily="34" charset="0"/>
                        <a:buChar char="•"/>
                      </a:pPr>
                      <a:r>
                        <a:rPr lang="en-GB" sz="4000" b="0">
                          <a:solidFill>
                            <a:schemeClr val="tx1"/>
                          </a:solidFill>
                          <a:latin typeface="Arial" panose="020B0604020202020204" pitchFamily="34" charset="0"/>
                          <a:cs typeface="Arial" panose="020B0604020202020204" pitchFamily="34" charset="0"/>
                        </a:rPr>
                        <a:t>LCD </a:t>
                      </a:r>
                    </a:p>
                    <a:p>
                      <a:pPr algn="l">
                        <a:lnSpc>
                          <a:spcPct val="150000"/>
                        </a:lnSpc>
                      </a:pPr>
                      <a:endParaRPr lang="en-US" sz="4000">
                        <a:solidFill>
                          <a:schemeClr val="tx1"/>
                        </a:solidFill>
                      </a:endParaRPr>
                    </a:p>
                  </a:txBody>
                  <a:tcPr>
                    <a:solidFill>
                      <a:schemeClr val="bg1">
                        <a:lumMod val="75000"/>
                      </a:schemeClr>
                    </a:solidFill>
                  </a:tcPr>
                </a:tc>
                <a:extLst>
                  <a:ext uri="{0D108BD9-81ED-4DB2-BD59-A6C34878D82A}">
                    <a16:rowId xmlns:a16="http://schemas.microsoft.com/office/drawing/2014/main" val="737013842"/>
                  </a:ext>
                </a:extLst>
              </a:tr>
            </a:tbl>
          </a:graphicData>
        </a:graphic>
      </p:graphicFrame>
      <p:pic>
        <p:nvPicPr>
          <p:cNvPr id="7" name="Picture 6">
            <a:extLst>
              <a:ext uri="{FF2B5EF4-FFF2-40B4-BE49-F238E27FC236}">
                <a16:creationId xmlns:a16="http://schemas.microsoft.com/office/drawing/2014/main" id="{9E0F01A2-C684-00B2-4570-E42E6AC2C896}"/>
              </a:ext>
            </a:extLst>
          </p:cNvPr>
          <p:cNvPicPr>
            <a:picLocks noChangeAspect="1"/>
          </p:cNvPicPr>
          <p:nvPr/>
        </p:nvPicPr>
        <p:blipFill>
          <a:blip r:embed="rId2"/>
          <a:stretch>
            <a:fillRect/>
          </a:stretch>
        </p:blipFill>
        <p:spPr>
          <a:xfrm>
            <a:off x="3406227" y="2577019"/>
            <a:ext cx="12115800" cy="7124235"/>
          </a:xfrm>
          <a:prstGeom prst="rect">
            <a:avLst/>
          </a:prstGeom>
        </p:spPr>
      </p:pic>
    </p:spTree>
    <p:extLst>
      <p:ext uri="{BB962C8B-B14F-4D97-AF65-F5344CB8AC3E}">
        <p14:creationId xmlns:p14="http://schemas.microsoft.com/office/powerpoint/2010/main" val="199839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randombar(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xit" presetSubtype="10" fill="hold" nodeType="clickEffect">
                                  <p:stCondLst>
                                    <p:cond delay="0"/>
                                  </p:stCondLst>
                                  <p:childTnLst>
                                    <p:animEffect transition="out" filter="randombar(horizontal)">
                                      <p:cBhvr>
                                        <p:cTn id="15" dur="500"/>
                                        <p:tgtEl>
                                          <p:spTgt spid="5"/>
                                        </p:tgtEl>
                                      </p:cBhvr>
                                    </p:animEffect>
                                    <p:set>
                                      <p:cBhvr>
                                        <p:cTn id="16" dur="1" fill="hold">
                                          <p:stCondLst>
                                            <p:cond delay="499"/>
                                          </p:stCondLst>
                                        </p:cTn>
                                        <p:tgtEl>
                                          <p:spTgt spid="5"/>
                                        </p:tgtEl>
                                        <p:attrNameLst>
                                          <p:attrName>style.visibility</p:attrName>
                                        </p:attrNameLst>
                                      </p:cBhvr>
                                      <p:to>
                                        <p:strVal val="hidden"/>
                                      </p:to>
                                    </p:set>
                                  </p:childTnLst>
                                </p:cTn>
                              </p:par>
                            </p:childTnLst>
                          </p:cTn>
                        </p:par>
                        <p:par>
                          <p:cTn id="17" fill="hold">
                            <p:stCondLst>
                              <p:cond delay="500"/>
                            </p:stCondLst>
                            <p:childTnLst>
                              <p:par>
                                <p:cTn id="18" presetID="14" presetClass="entr" presetSubtype="1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randombar(horizont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746594" y="1962497"/>
            <a:ext cx="16656290" cy="6555641"/>
          </a:xfrm>
          <a:prstGeom prst="rect">
            <a:avLst/>
          </a:prstGeom>
          <a:noFill/>
        </p:spPr>
        <p:txBody>
          <a:bodyPr wrap="square" lIns="91440" tIns="45720" rIns="91440" bIns="45720" anchor="t">
            <a:spAutoFit/>
          </a:bodyPr>
          <a:lstStyle/>
          <a:p>
            <a:r>
              <a:rPr lang="en-GB" sz="5000" b="1">
                <a:latin typeface="Arial" panose="020B0604020202020204" pitchFamily="34" charset="0"/>
                <a:cs typeface="Arial" panose="020B0604020202020204" pitchFamily="34" charset="0"/>
              </a:rPr>
              <a:t>2.Website hệ thống vườn thông minh</a:t>
            </a:r>
          </a:p>
          <a:p>
            <a:endParaRPr lang="vi-VN" sz="4000">
              <a:latin typeface="Arial" panose="020B0604020202020204" pitchFamily="34" charset="0"/>
              <a:cs typeface="Arial" panose="020B0604020202020204" pitchFamily="34" charset="0"/>
            </a:endParaRPr>
          </a:p>
          <a:p>
            <a:r>
              <a:rPr lang="en-GB" sz="5000">
                <a:latin typeface="Arial" panose="020B0604020202020204" pitchFamily="34" charset="0"/>
                <a:cs typeface="Arial" panose="020B0604020202020204" pitchFamily="34" charset="0"/>
              </a:rPr>
              <a:t>Gồm 4 phần:</a:t>
            </a:r>
          </a:p>
          <a:p>
            <a:pPr marL="914400" indent="-914400">
              <a:buFont typeface="+mj-lt"/>
              <a:buAutoNum type="alphaLcParenR"/>
            </a:pPr>
            <a:r>
              <a:rPr lang="en-GB" sz="5000">
                <a:latin typeface="Arial" panose="020B0604020202020204" pitchFamily="34" charset="0"/>
                <a:cs typeface="Arial" panose="020B0604020202020204" pitchFamily="34" charset="0"/>
              </a:rPr>
              <a:t>Phần đăng nhập</a:t>
            </a:r>
          </a:p>
          <a:p>
            <a:pPr marL="914400" indent="-914400">
              <a:buFont typeface="+mj-lt"/>
              <a:buAutoNum type="alphaLcParenR"/>
            </a:pPr>
            <a:r>
              <a:rPr lang="en-GB" sz="5000">
                <a:latin typeface="Arial" panose="020B0604020202020204" pitchFamily="34" charset="0"/>
                <a:cs typeface="Arial" panose="020B0604020202020204" pitchFamily="34" charset="0"/>
              </a:rPr>
              <a:t>Phần giao diện </a:t>
            </a:r>
            <a:r>
              <a:rPr lang="en-US" sz="5000">
                <a:latin typeface="Arial" panose="020B0604020202020204" pitchFamily="34" charset="0"/>
                <a:cs typeface="Arial" panose="020B0604020202020204" pitchFamily="34" charset="0"/>
              </a:rPr>
              <a:t>hiển thị thông số</a:t>
            </a:r>
          </a:p>
          <a:p>
            <a:pPr marL="914400" indent="-914400">
              <a:buFont typeface="+mj-lt"/>
              <a:buAutoNum type="alphaLcParenR"/>
            </a:pPr>
            <a:r>
              <a:rPr lang="en-US" sz="5000">
                <a:latin typeface="Arial" panose="020B0604020202020204" pitchFamily="34" charset="0"/>
                <a:cs typeface="Arial" panose="020B0604020202020204" pitchFamily="34" charset="0"/>
              </a:rPr>
              <a:t>Bảng điều khiển các thiết bị</a:t>
            </a:r>
          </a:p>
          <a:p>
            <a:pPr marL="914400" indent="-914400">
              <a:buFont typeface="+mj-lt"/>
              <a:buAutoNum type="alphaLcParenR"/>
            </a:pPr>
            <a:r>
              <a:rPr lang="en-US" sz="5000">
                <a:latin typeface="Arial" panose="020B0604020202020204" pitchFamily="34" charset="0"/>
                <a:cs typeface="Arial" panose="020B0604020202020204" pitchFamily="34" charset="0"/>
              </a:rPr>
              <a:t>Bảng điều khiển giới hạn </a:t>
            </a:r>
          </a:p>
          <a:p>
            <a:endParaRPr lang="en-GB" sz="4000" b="1" dirty="0">
              <a:latin typeface="Arial" panose="020B0604020202020204" pitchFamily="34" charset="0"/>
              <a:cs typeface="Arial" panose="020B0604020202020204" pitchFamily="34" charset="0"/>
            </a:endParaRPr>
          </a:p>
          <a:p>
            <a:endParaRPr lang="vi-VN" sz="4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8550739"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III. Giới thiệu hệ thống</a:t>
            </a:r>
            <a:endParaRPr lang="en-US" sz="5500" b="1" i="1" dirty="0">
              <a:solidFill>
                <a:srgbClr val="002060"/>
              </a:solidFill>
              <a:latin typeface="Montserrat Extra-Bold" panose="020B0604020202020204" charset="0"/>
              <a:cs typeface="Arial" panose="020B0604020202020204" pitchFamily="34" charset="0"/>
            </a:endParaRPr>
          </a:p>
        </p:txBody>
      </p:sp>
    </p:spTree>
    <p:extLst>
      <p:ext uri="{BB962C8B-B14F-4D97-AF65-F5344CB8AC3E}">
        <p14:creationId xmlns:p14="http://schemas.microsoft.com/office/powerpoint/2010/main" val="1335103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295400" y="1798976"/>
            <a:ext cx="16656290" cy="2862322"/>
          </a:xfrm>
          <a:prstGeom prst="rect">
            <a:avLst/>
          </a:prstGeom>
          <a:noFill/>
        </p:spPr>
        <p:txBody>
          <a:bodyPr wrap="square" lIns="91440" tIns="45720" rIns="91440" bIns="45720" anchor="t">
            <a:spAutoFit/>
          </a:bodyPr>
          <a:lstStyle/>
          <a:p>
            <a:r>
              <a:rPr lang="en-GB" sz="5000" b="1">
                <a:latin typeface="Arial" panose="020B0604020202020204" pitchFamily="34" charset="0"/>
                <a:cs typeface="Arial" panose="020B0604020202020204" pitchFamily="34" charset="0"/>
              </a:rPr>
              <a:t>2.Website hệ thống vườn thông minh</a:t>
            </a:r>
            <a:endParaRPr lang="vi-VN" sz="4000">
              <a:latin typeface="Arial" panose="020B0604020202020204" pitchFamily="34" charset="0"/>
              <a:cs typeface="Arial" panose="020B0604020202020204" pitchFamily="34" charset="0"/>
            </a:endParaRPr>
          </a:p>
          <a:p>
            <a:pPr marL="914400" indent="-914400">
              <a:buFont typeface="+mj-lt"/>
              <a:buAutoNum type="alphaLcParenR"/>
            </a:pPr>
            <a:r>
              <a:rPr lang="en-GB" sz="5000">
                <a:latin typeface="Arial" panose="020B0604020202020204" pitchFamily="34" charset="0"/>
                <a:cs typeface="Arial" panose="020B0604020202020204" pitchFamily="34" charset="0"/>
              </a:rPr>
              <a:t>Phần đăng nhập</a:t>
            </a:r>
          </a:p>
          <a:p>
            <a:endParaRPr lang="en-GB" sz="4000" b="1" dirty="0">
              <a:latin typeface="Arial" panose="020B0604020202020204" pitchFamily="34" charset="0"/>
              <a:cs typeface="Arial" panose="020B0604020202020204" pitchFamily="34" charset="0"/>
            </a:endParaRPr>
          </a:p>
          <a:p>
            <a:endParaRPr lang="vi-VN" sz="4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8550739"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III. Giới thiệu hệ thống</a:t>
            </a:r>
            <a:endParaRPr lang="en-US" sz="5500" b="1" i="1" dirty="0">
              <a:solidFill>
                <a:srgbClr val="002060"/>
              </a:solidFill>
              <a:latin typeface="Montserrat Extra-Bold" panose="020B0604020202020204" charset="0"/>
              <a:cs typeface="Arial" panose="020B0604020202020204" pitchFamily="34" charset="0"/>
            </a:endParaRPr>
          </a:p>
        </p:txBody>
      </p:sp>
      <p:pic>
        <p:nvPicPr>
          <p:cNvPr id="5" name="Picture 4">
            <a:extLst>
              <a:ext uri="{FF2B5EF4-FFF2-40B4-BE49-F238E27FC236}">
                <a16:creationId xmlns:a16="http://schemas.microsoft.com/office/drawing/2014/main" id="{F60158EA-31DA-08ED-0AD6-E858A35646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3113" y="3669472"/>
            <a:ext cx="8424531" cy="5757271"/>
          </a:xfrm>
          <a:prstGeom prst="rect">
            <a:avLst/>
          </a:prstGeom>
        </p:spPr>
      </p:pic>
    </p:spTree>
    <p:extLst>
      <p:ext uri="{BB962C8B-B14F-4D97-AF65-F5344CB8AC3E}">
        <p14:creationId xmlns:p14="http://schemas.microsoft.com/office/powerpoint/2010/main" val="4646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295400" y="1798976"/>
            <a:ext cx="16656290" cy="2708434"/>
          </a:xfrm>
          <a:prstGeom prst="rect">
            <a:avLst/>
          </a:prstGeom>
          <a:noFill/>
        </p:spPr>
        <p:txBody>
          <a:bodyPr wrap="square" lIns="91440" tIns="45720" rIns="91440" bIns="45720" anchor="t">
            <a:spAutoFit/>
          </a:bodyPr>
          <a:lstStyle/>
          <a:p>
            <a:r>
              <a:rPr lang="en-GB" sz="5000" b="1">
                <a:latin typeface="Arial" panose="020B0604020202020204" pitchFamily="34" charset="0"/>
                <a:cs typeface="Arial" panose="020B0604020202020204" pitchFamily="34" charset="0"/>
              </a:rPr>
              <a:t>2.Website hệ thống vườn thông minh</a:t>
            </a:r>
            <a:endParaRPr lang="vi-VN" sz="4000">
              <a:latin typeface="Arial" panose="020B0604020202020204" pitchFamily="34" charset="0"/>
              <a:cs typeface="Arial" panose="020B0604020202020204" pitchFamily="34" charset="0"/>
            </a:endParaRPr>
          </a:p>
          <a:p>
            <a:pPr marL="914400" indent="-914400">
              <a:buFont typeface="+mj-lt"/>
              <a:buAutoNum type="alphaLcParenR" startAt="2"/>
            </a:pPr>
            <a:r>
              <a:rPr lang="en-GB" sz="4000">
                <a:latin typeface="Arial" panose="020B0604020202020204" pitchFamily="34" charset="0"/>
                <a:cs typeface="Arial" panose="020B0604020202020204" pitchFamily="34" charset="0"/>
              </a:rPr>
              <a:t>Phần giao diện </a:t>
            </a:r>
            <a:r>
              <a:rPr lang="en-US" sz="4000">
                <a:latin typeface="Arial" panose="020B0604020202020204" pitchFamily="34" charset="0"/>
                <a:cs typeface="Arial" panose="020B0604020202020204" pitchFamily="34" charset="0"/>
              </a:rPr>
              <a:t>hiển thị thông số</a:t>
            </a:r>
          </a:p>
          <a:p>
            <a:endParaRPr lang="en-GB" sz="4000" b="1">
              <a:latin typeface="Arial" panose="020B0604020202020204" pitchFamily="34" charset="0"/>
              <a:cs typeface="Arial" panose="020B0604020202020204" pitchFamily="34" charset="0"/>
            </a:endParaRPr>
          </a:p>
          <a:p>
            <a:endParaRPr lang="vi-VN" sz="4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8550739"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III. Giới thiệu hệ thống</a:t>
            </a:r>
            <a:endParaRPr lang="en-US" sz="5500" b="1" i="1" dirty="0">
              <a:solidFill>
                <a:srgbClr val="002060"/>
              </a:solidFill>
              <a:latin typeface="Montserrat Extra-Bold" panose="020B0604020202020204" charset="0"/>
              <a:cs typeface="Arial" panose="020B0604020202020204" pitchFamily="34" charset="0"/>
            </a:endParaRPr>
          </a:p>
        </p:txBody>
      </p:sp>
      <p:pic>
        <p:nvPicPr>
          <p:cNvPr id="7" name="Picture 6">
            <a:extLst>
              <a:ext uri="{FF2B5EF4-FFF2-40B4-BE49-F238E27FC236}">
                <a16:creationId xmlns:a16="http://schemas.microsoft.com/office/drawing/2014/main" id="{347B8FA8-FC97-B333-F90E-841546B42AF1}"/>
              </a:ext>
            </a:extLst>
          </p:cNvPr>
          <p:cNvPicPr>
            <a:picLocks noChangeAspect="1"/>
          </p:cNvPicPr>
          <p:nvPr/>
        </p:nvPicPr>
        <p:blipFill>
          <a:blip r:embed="rId2"/>
          <a:stretch>
            <a:fillRect/>
          </a:stretch>
        </p:blipFill>
        <p:spPr>
          <a:xfrm>
            <a:off x="3069848" y="3492136"/>
            <a:ext cx="12148304" cy="6070964"/>
          </a:xfrm>
          <a:prstGeom prst="rect">
            <a:avLst/>
          </a:prstGeom>
        </p:spPr>
      </p:pic>
      <p:pic>
        <p:nvPicPr>
          <p:cNvPr id="9" name="Picture 8">
            <a:extLst>
              <a:ext uri="{FF2B5EF4-FFF2-40B4-BE49-F238E27FC236}">
                <a16:creationId xmlns:a16="http://schemas.microsoft.com/office/drawing/2014/main" id="{4CC14006-64AA-2298-2A23-8DA55FADE0CC}"/>
              </a:ext>
            </a:extLst>
          </p:cNvPr>
          <p:cNvPicPr>
            <a:picLocks noChangeAspect="1"/>
          </p:cNvPicPr>
          <p:nvPr/>
        </p:nvPicPr>
        <p:blipFill>
          <a:blip r:embed="rId3"/>
          <a:stretch>
            <a:fillRect/>
          </a:stretch>
        </p:blipFill>
        <p:spPr>
          <a:xfrm>
            <a:off x="3088898" y="3492136"/>
            <a:ext cx="12129254" cy="6070964"/>
          </a:xfrm>
          <a:prstGeom prst="rect">
            <a:avLst/>
          </a:prstGeom>
        </p:spPr>
      </p:pic>
      <p:pic>
        <p:nvPicPr>
          <p:cNvPr id="11" name="Picture 10">
            <a:extLst>
              <a:ext uri="{FF2B5EF4-FFF2-40B4-BE49-F238E27FC236}">
                <a16:creationId xmlns:a16="http://schemas.microsoft.com/office/drawing/2014/main" id="{7DE52B98-EAE1-25F6-560E-20504816147B}"/>
              </a:ext>
            </a:extLst>
          </p:cNvPr>
          <p:cNvPicPr>
            <a:picLocks noChangeAspect="1"/>
          </p:cNvPicPr>
          <p:nvPr/>
        </p:nvPicPr>
        <p:blipFill>
          <a:blip r:embed="rId4"/>
          <a:stretch>
            <a:fillRect/>
          </a:stretch>
        </p:blipFill>
        <p:spPr>
          <a:xfrm>
            <a:off x="3057148" y="3493900"/>
            <a:ext cx="12129254" cy="6069200"/>
          </a:xfrm>
          <a:prstGeom prst="rect">
            <a:avLst/>
          </a:prstGeom>
        </p:spPr>
      </p:pic>
      <p:pic>
        <p:nvPicPr>
          <p:cNvPr id="13" name="Picture 12">
            <a:extLst>
              <a:ext uri="{FF2B5EF4-FFF2-40B4-BE49-F238E27FC236}">
                <a16:creationId xmlns:a16="http://schemas.microsoft.com/office/drawing/2014/main" id="{3479A20B-A476-7D0F-1AB5-E52EC3E1DB02}"/>
              </a:ext>
            </a:extLst>
          </p:cNvPr>
          <p:cNvPicPr>
            <a:picLocks noChangeAspect="1"/>
          </p:cNvPicPr>
          <p:nvPr/>
        </p:nvPicPr>
        <p:blipFill>
          <a:blip r:embed="rId5"/>
          <a:stretch>
            <a:fillRect/>
          </a:stretch>
        </p:blipFill>
        <p:spPr>
          <a:xfrm>
            <a:off x="3076198" y="3517064"/>
            <a:ext cx="12110204" cy="6046036"/>
          </a:xfrm>
          <a:prstGeom prst="rect">
            <a:avLst/>
          </a:prstGeom>
        </p:spPr>
      </p:pic>
    </p:spTree>
    <p:extLst>
      <p:ext uri="{BB962C8B-B14F-4D97-AF65-F5344CB8AC3E}">
        <p14:creationId xmlns:p14="http://schemas.microsoft.com/office/powerpoint/2010/main" val="144219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xit" presetSubtype="10" fill="hold" nodeType="clickEffect">
                                  <p:stCondLst>
                                    <p:cond delay="0"/>
                                  </p:stCondLst>
                                  <p:childTnLst>
                                    <p:animEffect transition="out" filter="randombar(horizontal)">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par>
                          <p:cTn id="16" fill="hold">
                            <p:stCondLst>
                              <p:cond delay="500"/>
                            </p:stCondLst>
                            <p:childTnLst>
                              <p:par>
                                <p:cTn id="17" presetID="14" presetClass="entr" presetSubtype="1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randombar(horizont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xit" presetSubtype="10" fill="hold" nodeType="clickEffect">
                                  <p:stCondLst>
                                    <p:cond delay="0"/>
                                  </p:stCondLst>
                                  <p:childTnLst>
                                    <p:animEffect transition="out" filter="randombar(horizontal)">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par>
                          <p:cTn id="25" fill="hold">
                            <p:stCondLst>
                              <p:cond delay="500"/>
                            </p:stCondLst>
                            <p:childTnLst>
                              <p:par>
                                <p:cTn id="26" presetID="14" presetClass="entr" presetSubtype="10"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randombar(horizontal)">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xit" presetSubtype="10" fill="hold" nodeType="clickEffect">
                                  <p:stCondLst>
                                    <p:cond delay="0"/>
                                  </p:stCondLst>
                                  <p:childTnLst>
                                    <p:animEffect transition="out" filter="randombar(horizontal)">
                                      <p:cBhvr>
                                        <p:cTn id="32" dur="500"/>
                                        <p:tgtEl>
                                          <p:spTgt spid="11"/>
                                        </p:tgtEl>
                                      </p:cBhvr>
                                    </p:animEffect>
                                    <p:set>
                                      <p:cBhvr>
                                        <p:cTn id="33" dur="1" fill="hold">
                                          <p:stCondLst>
                                            <p:cond delay="499"/>
                                          </p:stCondLst>
                                        </p:cTn>
                                        <p:tgtEl>
                                          <p:spTgt spid="11"/>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randombar(horizontal)">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295400" y="1798976"/>
            <a:ext cx="16656290" cy="2862322"/>
          </a:xfrm>
          <a:prstGeom prst="rect">
            <a:avLst/>
          </a:prstGeom>
          <a:noFill/>
        </p:spPr>
        <p:txBody>
          <a:bodyPr wrap="square" lIns="91440" tIns="45720" rIns="91440" bIns="45720" anchor="t">
            <a:spAutoFit/>
          </a:bodyPr>
          <a:lstStyle/>
          <a:p>
            <a:r>
              <a:rPr lang="en-GB" sz="5000" b="1">
                <a:latin typeface="Arial" panose="020B0604020202020204" pitchFamily="34" charset="0"/>
                <a:cs typeface="Arial" panose="020B0604020202020204" pitchFamily="34" charset="0"/>
              </a:rPr>
              <a:t>2.Website hệ thống vườn thông minh</a:t>
            </a:r>
            <a:endParaRPr lang="vi-VN" sz="4000">
              <a:latin typeface="Arial" panose="020B0604020202020204" pitchFamily="34" charset="0"/>
              <a:cs typeface="Arial" panose="020B0604020202020204" pitchFamily="34" charset="0"/>
            </a:endParaRPr>
          </a:p>
          <a:p>
            <a:pPr marL="914400" indent="-914400">
              <a:buFont typeface="+mj-lt"/>
              <a:buAutoNum type="alphaLcParenR" startAt="3"/>
            </a:pPr>
            <a:r>
              <a:rPr lang="en-US" sz="5000">
                <a:latin typeface="Arial" panose="020B0604020202020204" pitchFamily="34" charset="0"/>
                <a:cs typeface="Arial" panose="020B0604020202020204" pitchFamily="34" charset="0"/>
              </a:rPr>
              <a:t>Bảng điều khiển các thiết bị</a:t>
            </a:r>
          </a:p>
          <a:p>
            <a:endParaRPr lang="en-GB" sz="4000" b="1" dirty="0">
              <a:latin typeface="Arial" panose="020B0604020202020204" pitchFamily="34" charset="0"/>
              <a:cs typeface="Arial" panose="020B0604020202020204" pitchFamily="34" charset="0"/>
            </a:endParaRPr>
          </a:p>
          <a:p>
            <a:endParaRPr lang="vi-VN" sz="4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8550739"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III. Giới thiệu hệ thống</a:t>
            </a:r>
            <a:endParaRPr lang="en-US" sz="5500" b="1" i="1" dirty="0">
              <a:solidFill>
                <a:srgbClr val="002060"/>
              </a:solidFill>
              <a:latin typeface="Montserrat Extra-Bold" panose="020B0604020202020204" charset="0"/>
              <a:cs typeface="Arial" panose="020B0604020202020204" pitchFamily="34" charset="0"/>
            </a:endParaRPr>
          </a:p>
        </p:txBody>
      </p:sp>
      <p:pic>
        <p:nvPicPr>
          <p:cNvPr id="7" name="Picture 6">
            <a:extLst>
              <a:ext uri="{FF2B5EF4-FFF2-40B4-BE49-F238E27FC236}">
                <a16:creationId xmlns:a16="http://schemas.microsoft.com/office/drawing/2014/main" id="{4BCBEFAA-1CC7-B6E9-26CA-19926186B7F2}"/>
              </a:ext>
            </a:extLst>
          </p:cNvPr>
          <p:cNvPicPr>
            <a:picLocks noChangeAspect="1"/>
          </p:cNvPicPr>
          <p:nvPr/>
        </p:nvPicPr>
        <p:blipFill>
          <a:blip r:embed="rId2"/>
          <a:stretch>
            <a:fillRect/>
          </a:stretch>
        </p:blipFill>
        <p:spPr>
          <a:xfrm>
            <a:off x="3070583" y="3516601"/>
            <a:ext cx="12146834" cy="6095640"/>
          </a:xfrm>
          <a:prstGeom prst="rect">
            <a:avLst/>
          </a:prstGeom>
        </p:spPr>
      </p:pic>
      <p:pic>
        <p:nvPicPr>
          <p:cNvPr id="9" name="Picture 8">
            <a:extLst>
              <a:ext uri="{FF2B5EF4-FFF2-40B4-BE49-F238E27FC236}">
                <a16:creationId xmlns:a16="http://schemas.microsoft.com/office/drawing/2014/main" id="{695083D7-816E-D510-F43B-20D57D066801}"/>
              </a:ext>
            </a:extLst>
          </p:cNvPr>
          <p:cNvPicPr>
            <a:picLocks noChangeAspect="1"/>
          </p:cNvPicPr>
          <p:nvPr/>
        </p:nvPicPr>
        <p:blipFill>
          <a:blip r:embed="rId3"/>
          <a:stretch>
            <a:fillRect/>
          </a:stretch>
        </p:blipFill>
        <p:spPr>
          <a:xfrm>
            <a:off x="3108683" y="3497551"/>
            <a:ext cx="12436117" cy="6120188"/>
          </a:xfrm>
          <a:prstGeom prst="rect">
            <a:avLst/>
          </a:prstGeom>
        </p:spPr>
      </p:pic>
      <p:pic>
        <p:nvPicPr>
          <p:cNvPr id="6" name="Picture 5">
            <a:extLst>
              <a:ext uri="{FF2B5EF4-FFF2-40B4-BE49-F238E27FC236}">
                <a16:creationId xmlns:a16="http://schemas.microsoft.com/office/drawing/2014/main" id="{033AB3C2-1608-2E7D-CBB1-6A677F5EB820}"/>
              </a:ext>
            </a:extLst>
          </p:cNvPr>
          <p:cNvPicPr>
            <a:picLocks noChangeAspect="1"/>
          </p:cNvPicPr>
          <p:nvPr/>
        </p:nvPicPr>
        <p:blipFill>
          <a:blip r:embed="rId4"/>
          <a:stretch>
            <a:fillRect/>
          </a:stretch>
        </p:blipFill>
        <p:spPr>
          <a:xfrm>
            <a:off x="3108683" y="3515639"/>
            <a:ext cx="12403460" cy="6214814"/>
          </a:xfrm>
          <a:prstGeom prst="rect">
            <a:avLst/>
          </a:prstGeom>
        </p:spPr>
      </p:pic>
    </p:spTree>
    <p:extLst>
      <p:ext uri="{BB962C8B-B14F-4D97-AF65-F5344CB8AC3E}">
        <p14:creationId xmlns:p14="http://schemas.microsoft.com/office/powerpoint/2010/main" val="74334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xit" presetSubtype="10" fill="hold" nodeType="clickEffect">
                                  <p:stCondLst>
                                    <p:cond delay="0"/>
                                  </p:stCondLst>
                                  <p:childTnLst>
                                    <p:animEffect transition="out" filter="randombar(horizontal)">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par>
                                <p:cTn id="16" presetID="14" presetClass="entr" presetSubtype="1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randombar(horizont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xit" presetSubtype="10" fill="hold" nodeType="clickEffect">
                                  <p:stCondLst>
                                    <p:cond delay="0"/>
                                  </p:stCondLst>
                                  <p:childTnLst>
                                    <p:animEffect transition="out" filter="randombar(horizontal)">
                                      <p:cBhvr>
                                        <p:cTn id="22" dur="500"/>
                                        <p:tgtEl>
                                          <p:spTgt spid="9"/>
                                        </p:tgtEl>
                                      </p:cBhvr>
                                    </p:animEffect>
                                    <p:set>
                                      <p:cBhvr>
                                        <p:cTn id="23" dur="1" fill="hold">
                                          <p:stCondLst>
                                            <p:cond delay="499"/>
                                          </p:stCondLst>
                                        </p:cTn>
                                        <p:tgtEl>
                                          <p:spTgt spid="9"/>
                                        </p:tgtEl>
                                        <p:attrNameLst>
                                          <p:attrName>style.visibility</p:attrName>
                                        </p:attrNameLst>
                                      </p:cBhvr>
                                      <p:to>
                                        <p:strVal val="hidden"/>
                                      </p:to>
                                    </p:set>
                                  </p:childTnLst>
                                </p:cTn>
                              </p:par>
                              <p:par>
                                <p:cTn id="24" presetID="14" presetClass="entr" presetSubtype="1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randombar(horizontal)">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944100"/>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295400" y="1798976"/>
            <a:ext cx="16656290" cy="2862322"/>
          </a:xfrm>
          <a:prstGeom prst="rect">
            <a:avLst/>
          </a:prstGeom>
          <a:noFill/>
        </p:spPr>
        <p:txBody>
          <a:bodyPr wrap="square" lIns="91440" tIns="45720" rIns="91440" bIns="45720" anchor="t">
            <a:spAutoFit/>
          </a:bodyPr>
          <a:lstStyle/>
          <a:p>
            <a:r>
              <a:rPr lang="en-GB" sz="5000" b="1">
                <a:latin typeface="Arial" panose="020B0604020202020204" pitchFamily="34" charset="0"/>
                <a:cs typeface="Arial" panose="020B0604020202020204" pitchFamily="34" charset="0"/>
              </a:rPr>
              <a:t>2.Website hệ thống vườn thông minh</a:t>
            </a:r>
            <a:endParaRPr lang="vi-VN" sz="4000">
              <a:latin typeface="Arial" panose="020B0604020202020204" pitchFamily="34" charset="0"/>
              <a:cs typeface="Arial" panose="020B0604020202020204" pitchFamily="34" charset="0"/>
            </a:endParaRPr>
          </a:p>
          <a:p>
            <a:pPr marL="914400" indent="-914400">
              <a:buFont typeface="+mj-lt"/>
              <a:buAutoNum type="alphaLcParenR" startAt="4"/>
            </a:pPr>
            <a:r>
              <a:rPr lang="en-US" sz="5000">
                <a:latin typeface="Arial" panose="020B0604020202020204" pitchFamily="34" charset="0"/>
                <a:cs typeface="Arial" panose="020B0604020202020204" pitchFamily="34" charset="0"/>
              </a:rPr>
              <a:t>Bảng điều khiển giới hạn</a:t>
            </a:r>
          </a:p>
          <a:p>
            <a:endParaRPr lang="en-GB" sz="4000" b="1" dirty="0">
              <a:latin typeface="Arial" panose="020B0604020202020204" pitchFamily="34" charset="0"/>
              <a:cs typeface="Arial" panose="020B0604020202020204" pitchFamily="34" charset="0"/>
            </a:endParaRPr>
          </a:p>
          <a:p>
            <a:endParaRPr lang="vi-VN" sz="4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8550739"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III. Giới thiệu hệ thống</a:t>
            </a:r>
            <a:endParaRPr lang="en-US" sz="5500" b="1" i="1" dirty="0">
              <a:solidFill>
                <a:srgbClr val="002060"/>
              </a:solidFill>
              <a:latin typeface="Montserrat Extra-Bold" panose="020B0604020202020204" charset="0"/>
              <a:cs typeface="Arial" panose="020B0604020202020204" pitchFamily="34" charset="0"/>
            </a:endParaRPr>
          </a:p>
        </p:txBody>
      </p:sp>
      <p:pic>
        <p:nvPicPr>
          <p:cNvPr id="6" name="Picture 5">
            <a:extLst>
              <a:ext uri="{FF2B5EF4-FFF2-40B4-BE49-F238E27FC236}">
                <a16:creationId xmlns:a16="http://schemas.microsoft.com/office/drawing/2014/main" id="{203C1536-690B-A6F1-D686-70B7623058F1}"/>
              </a:ext>
            </a:extLst>
          </p:cNvPr>
          <p:cNvPicPr>
            <a:picLocks noChangeAspect="1"/>
          </p:cNvPicPr>
          <p:nvPr/>
        </p:nvPicPr>
        <p:blipFill>
          <a:blip r:embed="rId2"/>
          <a:stretch>
            <a:fillRect/>
          </a:stretch>
        </p:blipFill>
        <p:spPr>
          <a:xfrm>
            <a:off x="3048000" y="3619500"/>
            <a:ext cx="11963400" cy="5978577"/>
          </a:xfrm>
          <a:prstGeom prst="rect">
            <a:avLst/>
          </a:prstGeom>
        </p:spPr>
      </p:pic>
    </p:spTree>
    <p:extLst>
      <p:ext uri="{BB962C8B-B14F-4D97-AF65-F5344CB8AC3E}">
        <p14:creationId xmlns:p14="http://schemas.microsoft.com/office/powerpoint/2010/main" val="170059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990600" y="9808256"/>
            <a:ext cx="16230600" cy="1351653"/>
          </a:xfrm>
          <a:prstGeom prst="rect">
            <a:avLst/>
          </a:prstGeom>
          <a:solidFill>
            <a:srgbClr val="1C9B5E"/>
          </a:solidFill>
        </p:spPr>
      </p:sp>
      <p:sp>
        <p:nvSpPr>
          <p:cNvPr id="4" name="AutoShape 4"/>
          <p:cNvSpPr/>
          <p:nvPr/>
        </p:nvSpPr>
        <p:spPr>
          <a:xfrm>
            <a:off x="1028700" y="-1013426"/>
            <a:ext cx="16230600" cy="1351653"/>
          </a:xfrm>
          <a:prstGeom prst="rect">
            <a:avLst/>
          </a:prstGeom>
          <a:solidFill>
            <a:srgbClr val="1C9B5E"/>
          </a:solidFill>
        </p:spPr>
      </p:sp>
      <p:sp>
        <p:nvSpPr>
          <p:cNvPr id="22" name="TextBox 21">
            <a:extLst>
              <a:ext uri="{FF2B5EF4-FFF2-40B4-BE49-F238E27FC236}">
                <a16:creationId xmlns:a16="http://schemas.microsoft.com/office/drawing/2014/main" id="{B6C13683-7892-E748-D124-C6E7261E005B}"/>
              </a:ext>
            </a:extLst>
          </p:cNvPr>
          <p:cNvSpPr txBox="1"/>
          <p:nvPr/>
        </p:nvSpPr>
        <p:spPr>
          <a:xfrm>
            <a:off x="1215905" y="1902502"/>
            <a:ext cx="15856190" cy="7017306"/>
          </a:xfrm>
          <a:prstGeom prst="rect">
            <a:avLst/>
          </a:prstGeom>
          <a:noFill/>
        </p:spPr>
        <p:txBody>
          <a:bodyPr wrap="square" lIns="91440" tIns="45720" rIns="91440" bIns="45720" anchor="t">
            <a:spAutoFit/>
          </a:bodyPr>
          <a:lstStyle/>
          <a:p>
            <a:pPr marL="914400" indent="-914400">
              <a:buFont typeface="+mj-lt"/>
              <a:buAutoNum type="arabicPeriod"/>
            </a:pPr>
            <a:r>
              <a:rPr lang="en-GB" sz="4500">
                <a:latin typeface="Arial" panose="020B0604020202020204" pitchFamily="34" charset="0"/>
                <a:cs typeface="Arial" panose="020B0604020202020204" pitchFamily="34" charset="0"/>
              </a:rPr>
              <a:t>Khi nhiệt độ trên 35 độ thì bật phun sương, tắt đèn sưởi và dưới 28 thì bật đèn sưởi và tắt phun sương</a:t>
            </a:r>
          </a:p>
          <a:p>
            <a:pPr marL="914400" indent="-914400">
              <a:buFont typeface="+mj-lt"/>
              <a:buAutoNum type="arabicPeriod"/>
            </a:pPr>
            <a:r>
              <a:rPr lang="en-GB" sz="4500">
                <a:latin typeface="Arial" panose="020B0604020202020204" pitchFamily="34" charset="0"/>
                <a:cs typeface="Arial" panose="020B0604020202020204" pitchFamily="34" charset="0"/>
              </a:rPr>
              <a:t>Khi độ ẩm đất dưới 20% thì bật tưới nước và trên 60% thì dừng tưới</a:t>
            </a:r>
          </a:p>
          <a:p>
            <a:pPr marL="914400" indent="-914400">
              <a:buFont typeface="+mj-lt"/>
              <a:buAutoNum type="arabicPeriod"/>
            </a:pPr>
            <a:r>
              <a:rPr lang="en-GB" sz="4500">
                <a:latin typeface="Arial" panose="020B0604020202020204" pitchFamily="34" charset="0"/>
                <a:cs typeface="Arial" panose="020B0604020202020204" pitchFamily="34" charset="0"/>
              </a:rPr>
              <a:t>Khi chỉ số ánh sáng trên 70% thì đóng màn che và ngược lại</a:t>
            </a:r>
          </a:p>
          <a:p>
            <a:pPr marL="914400" indent="-914400">
              <a:buFont typeface="+mj-lt"/>
              <a:buAutoNum type="arabicPeriod"/>
            </a:pPr>
            <a:r>
              <a:rPr lang="en-GB" sz="4500">
                <a:latin typeface="Arial" panose="020B0604020202020204" pitchFamily="34" charset="0"/>
                <a:cs typeface="Arial" panose="020B0604020202020204" pitchFamily="34" charset="0"/>
              </a:rPr>
              <a:t>Khi chỉ số mưa trên 80% thì đóng màn che mưa và ngược lại</a:t>
            </a:r>
          </a:p>
          <a:p>
            <a:pPr marL="914400" indent="-914400">
              <a:buFont typeface="+mj-lt"/>
              <a:buAutoNum type="arabicPeriod" startAt="5"/>
            </a:pPr>
            <a:r>
              <a:rPr lang="en-GB" sz="4500">
                <a:latin typeface="Arial" panose="020B0604020202020204" pitchFamily="34" charset="0"/>
                <a:cs typeface="Arial" panose="020B0604020202020204" pitchFamily="34" charset="0"/>
              </a:rPr>
              <a:t>Thực hiện đóng dừng toàn bộ chức năng và mở lại</a:t>
            </a:r>
          </a:p>
          <a:p>
            <a:pPr marL="914400" indent="-914400">
              <a:buFont typeface="+mj-lt"/>
              <a:buAutoNum type="arabicPeriod" startAt="5"/>
            </a:pPr>
            <a:r>
              <a:rPr lang="en-GB" sz="4500">
                <a:latin typeface="Arial" panose="020B0604020202020204" pitchFamily="34" charset="0"/>
                <a:cs typeface="Arial" panose="020B0604020202020204" pitchFamily="34" charset="0"/>
              </a:rPr>
              <a:t>Điều chỉnh lại các ngưỡng giới hạn </a:t>
            </a:r>
          </a:p>
        </p:txBody>
      </p:sp>
      <p:sp>
        <p:nvSpPr>
          <p:cNvPr id="2" name="TextBox 1">
            <a:extLst>
              <a:ext uri="{FF2B5EF4-FFF2-40B4-BE49-F238E27FC236}">
                <a16:creationId xmlns:a16="http://schemas.microsoft.com/office/drawing/2014/main" id="{82EC3115-DB29-0AB2-8534-E5A359A6E708}"/>
              </a:ext>
            </a:extLst>
          </p:cNvPr>
          <p:cNvSpPr txBox="1"/>
          <p:nvPr/>
        </p:nvSpPr>
        <p:spPr>
          <a:xfrm>
            <a:off x="1524000" y="860257"/>
            <a:ext cx="4665060" cy="938719"/>
          </a:xfrm>
          <a:prstGeom prst="rect">
            <a:avLst/>
          </a:prstGeom>
          <a:noFill/>
        </p:spPr>
        <p:txBody>
          <a:bodyPr wrap="none" rtlCol="0">
            <a:spAutoFit/>
          </a:bodyPr>
          <a:lstStyle/>
          <a:p>
            <a:r>
              <a:rPr lang="en-GB" sz="5500" b="1" i="1">
                <a:solidFill>
                  <a:srgbClr val="002060"/>
                </a:solidFill>
                <a:latin typeface="Montserrat Extra-Bold" panose="020B0604020202020204" charset="0"/>
                <a:cs typeface="Arial" panose="020B0604020202020204" pitchFamily="34" charset="0"/>
              </a:rPr>
              <a:t>IV. Kịch bản</a:t>
            </a:r>
            <a:endParaRPr lang="en-US" sz="5500" b="1" i="1" dirty="0">
              <a:solidFill>
                <a:srgbClr val="002060"/>
              </a:solidFill>
              <a:latin typeface="Montserrat Extra-Bold" panose="020B0604020202020204" charset="0"/>
              <a:cs typeface="Arial" panose="020B0604020202020204" pitchFamily="34" charset="0"/>
            </a:endParaRPr>
          </a:p>
        </p:txBody>
      </p:sp>
    </p:spTree>
    <p:extLst>
      <p:ext uri="{BB962C8B-B14F-4D97-AF65-F5344CB8AC3E}">
        <p14:creationId xmlns:p14="http://schemas.microsoft.com/office/powerpoint/2010/main" val="1017999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591065"/>
            <a:ext cx="16230600" cy="1351653"/>
          </a:xfrm>
          <a:prstGeom prst="rect">
            <a:avLst/>
          </a:prstGeom>
          <a:solidFill>
            <a:srgbClr val="1C9B5E"/>
          </a:solidFill>
        </p:spPr>
      </p:sp>
      <p:sp>
        <p:nvSpPr>
          <p:cNvPr id="4" name="AutoShape 4"/>
          <p:cNvSpPr/>
          <p:nvPr/>
        </p:nvSpPr>
        <p:spPr>
          <a:xfrm>
            <a:off x="1287492" y="100550"/>
            <a:ext cx="16230600" cy="1351653"/>
          </a:xfrm>
          <a:prstGeom prst="rect">
            <a:avLst/>
          </a:prstGeom>
          <a:solidFill>
            <a:srgbClr val="1C9B5E"/>
          </a:solidFill>
        </p:spPr>
      </p:sp>
      <p:sp>
        <p:nvSpPr>
          <p:cNvPr id="10" name="TextBox 9">
            <a:extLst>
              <a:ext uri="{FF2B5EF4-FFF2-40B4-BE49-F238E27FC236}">
                <a16:creationId xmlns:a16="http://schemas.microsoft.com/office/drawing/2014/main" id="{72D38461-AC66-1605-3A69-B3E0F4E5002B}"/>
              </a:ext>
            </a:extLst>
          </p:cNvPr>
          <p:cNvSpPr txBox="1"/>
          <p:nvPr/>
        </p:nvSpPr>
        <p:spPr>
          <a:xfrm>
            <a:off x="1524000" y="1718303"/>
            <a:ext cx="14233584" cy="848950"/>
          </a:xfrm>
          <a:prstGeom prst="rect">
            <a:avLst/>
          </a:prstGeom>
          <a:noFill/>
        </p:spPr>
        <p:txBody>
          <a:bodyPr wrap="square" lIns="91440" tIns="45720" rIns="91440" bIns="45720" anchor="t">
            <a:spAutoFit/>
          </a:bodyPr>
          <a:lstStyle/>
          <a:p>
            <a:pPr>
              <a:lnSpc>
                <a:spcPts val="5880"/>
              </a:lnSpc>
            </a:pPr>
            <a:r>
              <a:rPr lang="en-GB" sz="5500" i="1" dirty="0">
                <a:solidFill>
                  <a:srgbClr val="002060"/>
                </a:solidFill>
                <a:latin typeface="Montserrat Extra-Bold" panose="020B0604020202020204" charset="0"/>
              </a:rPr>
              <a:t>IV.  </a:t>
            </a:r>
            <a:r>
              <a:rPr lang="en-GB" sz="5500" i="1" dirty="0" err="1">
                <a:solidFill>
                  <a:srgbClr val="002060"/>
                </a:solidFill>
                <a:latin typeface="Montserrat Extra-Bold" panose="020B0604020202020204" charset="0"/>
              </a:rPr>
              <a:t>Kết</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luận</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và</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hướng</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phát</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triển</a:t>
            </a:r>
            <a:endParaRPr lang="en-US" sz="5500" i="1" dirty="0">
              <a:solidFill>
                <a:srgbClr val="002060"/>
              </a:solidFill>
              <a:latin typeface="Montserrat Extra-Bold" panose="020B0604020202020204" charset="0"/>
            </a:endParaRPr>
          </a:p>
        </p:txBody>
      </p:sp>
      <p:sp>
        <p:nvSpPr>
          <p:cNvPr id="6" name="TextBox 5">
            <a:extLst>
              <a:ext uri="{FF2B5EF4-FFF2-40B4-BE49-F238E27FC236}">
                <a16:creationId xmlns:a16="http://schemas.microsoft.com/office/drawing/2014/main" id="{E1940DB3-1719-A97A-2871-D327D426B490}"/>
              </a:ext>
            </a:extLst>
          </p:cNvPr>
          <p:cNvSpPr txBox="1"/>
          <p:nvPr/>
        </p:nvSpPr>
        <p:spPr>
          <a:xfrm>
            <a:off x="2590800" y="3206358"/>
            <a:ext cx="9144000" cy="553998"/>
          </a:xfrm>
          <a:prstGeom prst="rect">
            <a:avLst/>
          </a:prstGeom>
          <a:noFill/>
        </p:spPr>
        <p:txBody>
          <a:bodyPr wrap="square">
            <a:spAutoFit/>
          </a:bodyPr>
          <a:lstStyle/>
          <a:p>
            <a:endParaRPr lang="vi-VN" sz="3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6582DCAD-43E8-0A41-0B2F-B4BA264739D1}"/>
              </a:ext>
            </a:extLst>
          </p:cNvPr>
          <p:cNvSpPr txBox="1"/>
          <p:nvPr/>
        </p:nvSpPr>
        <p:spPr>
          <a:xfrm>
            <a:off x="1287492" y="2633259"/>
            <a:ext cx="15781308" cy="8583184"/>
          </a:xfrm>
          <a:prstGeom prst="rect">
            <a:avLst/>
          </a:prstGeom>
          <a:noFill/>
        </p:spPr>
        <p:txBody>
          <a:bodyPr wrap="square">
            <a:spAutoFit/>
          </a:bodyPr>
          <a:lstStyle/>
          <a:p>
            <a:pPr algn="just">
              <a:lnSpc>
                <a:spcPct val="150000"/>
              </a:lnSpc>
              <a:spcAft>
                <a:spcPts val="100"/>
              </a:spcAft>
            </a:pPr>
            <a:r>
              <a:rPr lang="en-US" sz="5000" b="1" dirty="0" err="1">
                <a:latin typeface="Arial" panose="020B0604020202020204" pitchFamily="34" charset="0"/>
                <a:ea typeface="Tahoma" panose="020B0604030504040204" pitchFamily="34" charset="0"/>
                <a:cs typeface="Arial" panose="020B0604020202020204" pitchFamily="34" charset="0"/>
              </a:rPr>
              <a:t>Kết</a:t>
            </a:r>
            <a:r>
              <a:rPr lang="en-US" sz="5000" b="1" dirty="0">
                <a:latin typeface="Arial" panose="020B0604020202020204" pitchFamily="34" charset="0"/>
                <a:ea typeface="Tahoma" panose="020B0604030504040204" pitchFamily="34" charset="0"/>
                <a:cs typeface="Arial" panose="020B0604020202020204" pitchFamily="34" charset="0"/>
              </a:rPr>
              <a:t> </a:t>
            </a:r>
            <a:r>
              <a:rPr lang="en-US" sz="5000" b="1" dirty="0" err="1">
                <a:latin typeface="Arial" panose="020B0604020202020204" pitchFamily="34" charset="0"/>
                <a:ea typeface="Tahoma" panose="020B0604030504040204" pitchFamily="34" charset="0"/>
                <a:cs typeface="Arial" panose="020B0604020202020204" pitchFamily="34" charset="0"/>
              </a:rPr>
              <a:t>quả</a:t>
            </a:r>
            <a:r>
              <a:rPr lang="en-US" sz="5000" b="1" dirty="0">
                <a:latin typeface="Arial" panose="020B0604020202020204" pitchFamily="34" charset="0"/>
                <a:ea typeface="Tahoma" panose="020B0604030504040204" pitchFamily="34" charset="0"/>
                <a:cs typeface="Arial" panose="020B0604020202020204" pitchFamily="34" charset="0"/>
              </a:rPr>
              <a:t> </a:t>
            </a:r>
            <a:r>
              <a:rPr lang="en-US" sz="5000" b="1" dirty="0" err="1">
                <a:latin typeface="Arial" panose="020B0604020202020204" pitchFamily="34" charset="0"/>
                <a:ea typeface="Tahoma" panose="020B0604030504040204" pitchFamily="34" charset="0"/>
                <a:cs typeface="Arial" panose="020B0604020202020204" pitchFamily="34" charset="0"/>
              </a:rPr>
              <a:t>đạt</a:t>
            </a:r>
            <a:r>
              <a:rPr lang="en-US" sz="5000" b="1" dirty="0">
                <a:latin typeface="Arial" panose="020B0604020202020204" pitchFamily="34" charset="0"/>
                <a:ea typeface="Tahoma" panose="020B0604030504040204" pitchFamily="34" charset="0"/>
                <a:cs typeface="Arial" panose="020B0604020202020204" pitchFamily="34" charset="0"/>
              </a:rPr>
              <a:t> </a:t>
            </a:r>
            <a:r>
              <a:rPr lang="en-US" sz="5000" b="1" dirty="0" err="1">
                <a:latin typeface="Arial" panose="020B0604020202020204" pitchFamily="34" charset="0"/>
                <a:ea typeface="Tahoma" panose="020B0604030504040204" pitchFamily="34" charset="0"/>
                <a:cs typeface="Arial" panose="020B0604020202020204" pitchFamily="34" charset="0"/>
              </a:rPr>
              <a:t>được</a:t>
            </a:r>
            <a:r>
              <a:rPr lang="en-US" sz="5000" b="1">
                <a:latin typeface="Arial" panose="020B0604020202020204" pitchFamily="34" charset="0"/>
                <a:ea typeface="Tahoma" panose="020B0604030504040204" pitchFamily="34" charset="0"/>
                <a:cs typeface="Arial" panose="020B0604020202020204" pitchFamily="34" charset="0"/>
              </a:rPr>
              <a:t>:</a:t>
            </a:r>
            <a:r>
              <a:rPr lang="en-US" sz="5000" b="1" i="1">
                <a:latin typeface="Arial" panose="020B0604020202020204" pitchFamily="34" charset="0"/>
                <a:ea typeface="Tahoma" panose="020B0604030504040204" pitchFamily="34" charset="0"/>
                <a:cs typeface="Arial" panose="020B0604020202020204" pitchFamily="34" charset="0"/>
              </a:rPr>
              <a:t> </a:t>
            </a:r>
            <a:endParaRPr lang="en-US" sz="5000" b="1" i="1" dirty="0">
              <a:latin typeface="Arial" panose="020B0604020202020204" pitchFamily="34" charset="0"/>
              <a:ea typeface="Tahoma" panose="020B0604030504040204" pitchFamily="34" charset="0"/>
              <a:cs typeface="Arial" panose="020B0604020202020204" pitchFamily="34" charset="0"/>
            </a:endParaRPr>
          </a:p>
          <a:p>
            <a:pPr marL="457200" indent="-457200" algn="just">
              <a:lnSpc>
                <a:spcPct val="150000"/>
              </a:lnSpc>
              <a:spcAft>
                <a:spcPts val="100"/>
              </a:spcAft>
              <a:buFont typeface="Arial" panose="020B0604020202020204" pitchFamily="34" charset="0"/>
              <a:buChar char="•"/>
            </a:pPr>
            <a:r>
              <a:rPr lang="en-US" sz="5000" i="1">
                <a:latin typeface="Arial" panose="020B0604020202020204" pitchFamily="34" charset="0"/>
                <a:ea typeface="Tahoma" panose="020B0604030504040204" pitchFamily="34" charset="0"/>
                <a:cs typeface="Arial" panose="020B0604020202020204" pitchFamily="34" charset="0"/>
              </a:rPr>
              <a:t>Mô hình cơ bản đã hoàn thành và cơ bản đầy đủ các chức năng để vận một mô hình vườn thông minh</a:t>
            </a:r>
          </a:p>
          <a:p>
            <a:pPr marL="457200" indent="-457200" algn="just">
              <a:lnSpc>
                <a:spcPct val="150000"/>
              </a:lnSpc>
              <a:spcAft>
                <a:spcPts val="100"/>
              </a:spcAft>
              <a:buFont typeface="Arial" panose="020B0604020202020204" pitchFamily="34" charset="0"/>
              <a:buChar char="•"/>
            </a:pPr>
            <a:r>
              <a:rPr lang="en-US" sz="5000" i="1">
                <a:effectLst/>
                <a:latin typeface="Arial" panose="020B0604020202020204" pitchFamily="34" charset="0"/>
                <a:ea typeface="Tahoma" panose="020B0604030504040204" pitchFamily="34" charset="0"/>
                <a:cs typeface="Arial" panose="020B0604020202020204" pitchFamily="34" charset="0"/>
              </a:rPr>
              <a:t>Học hỏi được nhiều kiến thức mới để tích lũy kinh nghiệm cho bản thân</a:t>
            </a:r>
            <a:endParaRPr lang="en-US" sz="5000" i="1" dirty="0">
              <a:effectLst/>
              <a:latin typeface="Arial" panose="020B0604020202020204" pitchFamily="34" charset="0"/>
              <a:ea typeface="Tahoma" panose="020B0604030504040204" pitchFamily="34" charset="0"/>
              <a:cs typeface="Arial" panose="020B0604020202020204" pitchFamily="34" charset="0"/>
            </a:endParaRPr>
          </a:p>
          <a:p>
            <a:pPr marL="457200" indent="-457200" algn="just">
              <a:lnSpc>
                <a:spcPct val="150000"/>
              </a:lnSpc>
              <a:spcAft>
                <a:spcPts val="100"/>
              </a:spcAft>
              <a:buFont typeface="Arial" panose="020B0604020202020204" pitchFamily="34" charset="0"/>
              <a:buChar char="•"/>
            </a:pPr>
            <a:endParaRPr lang="en-US" sz="4000" i="1" dirty="0">
              <a:effectLst/>
              <a:latin typeface="Arial" panose="020B0604020202020204" pitchFamily="34" charset="0"/>
              <a:ea typeface="Tahoma" panose="020B0604030504040204" pitchFamily="34" charset="0"/>
              <a:cs typeface="Arial" panose="020B0604020202020204" pitchFamily="34" charset="0"/>
            </a:endParaRPr>
          </a:p>
          <a:p>
            <a:pPr algn="just">
              <a:lnSpc>
                <a:spcPct val="150000"/>
              </a:lnSpc>
              <a:spcAft>
                <a:spcPts val="100"/>
              </a:spcAft>
            </a:pPr>
            <a:endParaRPr lang="en-US" sz="4000" i="1" dirty="0">
              <a:latin typeface="Arial" panose="020B0604020202020204" pitchFamily="34" charset="0"/>
              <a:ea typeface="Tahoma" panose="020B0604030504040204" pitchFamily="34" charset="0"/>
              <a:cs typeface="Arial" panose="020B0604020202020204" pitchFamily="34" charset="0"/>
            </a:endParaRPr>
          </a:p>
          <a:p>
            <a:pPr algn="just">
              <a:lnSpc>
                <a:spcPct val="150000"/>
              </a:lnSpc>
              <a:spcAft>
                <a:spcPts val="100"/>
              </a:spcAft>
            </a:pPr>
            <a:endParaRPr lang="en-US" sz="4000" i="1" dirty="0">
              <a:effectLst/>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609696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28700" y="9591065"/>
            <a:ext cx="16230600" cy="1351653"/>
          </a:xfrm>
          <a:prstGeom prst="rect">
            <a:avLst/>
          </a:prstGeom>
          <a:solidFill>
            <a:srgbClr val="1C9B5E"/>
          </a:solidFill>
        </p:spPr>
      </p:sp>
      <p:sp>
        <p:nvSpPr>
          <p:cNvPr id="4" name="AutoShape 4"/>
          <p:cNvSpPr/>
          <p:nvPr/>
        </p:nvSpPr>
        <p:spPr>
          <a:xfrm>
            <a:off x="1287492" y="100550"/>
            <a:ext cx="16230600" cy="1351653"/>
          </a:xfrm>
          <a:prstGeom prst="rect">
            <a:avLst/>
          </a:prstGeom>
          <a:solidFill>
            <a:srgbClr val="1C9B5E"/>
          </a:solidFill>
        </p:spPr>
      </p:sp>
      <p:sp>
        <p:nvSpPr>
          <p:cNvPr id="5" name="TextBox 4">
            <a:extLst>
              <a:ext uri="{FF2B5EF4-FFF2-40B4-BE49-F238E27FC236}">
                <a16:creationId xmlns:a16="http://schemas.microsoft.com/office/drawing/2014/main" id="{09C4A2FC-FE7A-4E3E-B853-8D3A7425C081}"/>
              </a:ext>
            </a:extLst>
          </p:cNvPr>
          <p:cNvSpPr txBox="1"/>
          <p:nvPr/>
        </p:nvSpPr>
        <p:spPr>
          <a:xfrm>
            <a:off x="1524000" y="2605173"/>
            <a:ext cx="15392400" cy="8092985"/>
          </a:xfrm>
          <a:prstGeom prst="rect">
            <a:avLst/>
          </a:prstGeom>
          <a:noFill/>
        </p:spPr>
        <p:txBody>
          <a:bodyPr wrap="square" lIns="91440" tIns="45720" rIns="91440" bIns="45720" anchor="t">
            <a:spAutoFit/>
          </a:bodyPr>
          <a:lstStyle/>
          <a:p>
            <a:pPr algn="just">
              <a:lnSpc>
                <a:spcPct val="150000"/>
              </a:lnSpc>
              <a:spcAft>
                <a:spcPts val="100"/>
              </a:spcAft>
            </a:pPr>
            <a:r>
              <a:rPr lang="en-US" sz="5000" b="1" dirty="0" err="1">
                <a:latin typeface="Arial" panose="020B0604020202020204" pitchFamily="34" charset="0"/>
                <a:ea typeface="Tahoma" panose="020B0604030504040204" pitchFamily="34" charset="0"/>
                <a:cs typeface="Arial" panose="020B0604020202020204" pitchFamily="34" charset="0"/>
              </a:rPr>
              <a:t>Hạn</a:t>
            </a:r>
            <a:r>
              <a:rPr lang="en-US" sz="5000" b="1" dirty="0">
                <a:latin typeface="Arial" panose="020B0604020202020204" pitchFamily="34" charset="0"/>
                <a:ea typeface="Tahoma" panose="020B0604030504040204" pitchFamily="34" charset="0"/>
                <a:cs typeface="Arial" panose="020B0604020202020204" pitchFamily="34" charset="0"/>
              </a:rPr>
              <a:t> </a:t>
            </a:r>
            <a:r>
              <a:rPr lang="en-US" sz="5000" b="1" dirty="0" err="1">
                <a:latin typeface="Arial" panose="020B0604020202020204" pitchFamily="34" charset="0"/>
                <a:ea typeface="Tahoma" panose="020B0604030504040204" pitchFamily="34" charset="0"/>
                <a:cs typeface="Arial" panose="020B0604020202020204" pitchFamily="34" charset="0"/>
              </a:rPr>
              <a:t>chế</a:t>
            </a:r>
            <a:r>
              <a:rPr lang="en-US" sz="5000" b="1" dirty="0">
                <a:latin typeface="Arial" panose="020B0604020202020204" pitchFamily="34" charset="0"/>
                <a:ea typeface="Tahoma" panose="020B0604030504040204" pitchFamily="34" charset="0"/>
                <a:cs typeface="Arial" panose="020B0604020202020204" pitchFamily="34" charset="0"/>
              </a:rPr>
              <a:t> </a:t>
            </a:r>
            <a:r>
              <a:rPr lang="en-US" sz="5000" b="1" dirty="0" err="1">
                <a:latin typeface="Arial" panose="020B0604020202020204" pitchFamily="34" charset="0"/>
                <a:ea typeface="Tahoma" panose="020B0604030504040204" pitchFamily="34" charset="0"/>
                <a:cs typeface="Arial" panose="020B0604020202020204" pitchFamily="34" charset="0"/>
              </a:rPr>
              <a:t>đề</a:t>
            </a:r>
            <a:r>
              <a:rPr lang="en-US" sz="5000" b="1" dirty="0">
                <a:latin typeface="Arial" panose="020B0604020202020204" pitchFamily="34" charset="0"/>
                <a:ea typeface="Tahoma" panose="020B0604030504040204" pitchFamily="34" charset="0"/>
                <a:cs typeface="Arial" panose="020B0604020202020204" pitchFamily="34" charset="0"/>
              </a:rPr>
              <a:t> </a:t>
            </a:r>
            <a:r>
              <a:rPr lang="en-US" sz="5000" b="1" dirty="0" err="1">
                <a:latin typeface="Arial" panose="020B0604020202020204" pitchFamily="34" charset="0"/>
                <a:ea typeface="Tahoma" panose="020B0604030504040204" pitchFamily="34" charset="0"/>
                <a:cs typeface="Arial" panose="020B0604020202020204" pitchFamily="34" charset="0"/>
              </a:rPr>
              <a:t>tài</a:t>
            </a:r>
            <a:r>
              <a:rPr lang="en-US" sz="5000" b="1" dirty="0">
                <a:latin typeface="Arial" panose="020B0604020202020204" pitchFamily="34" charset="0"/>
                <a:ea typeface="Tahoma" panose="020B0604030504040204" pitchFamily="34" charset="0"/>
                <a:cs typeface="Arial" panose="020B0604020202020204" pitchFamily="34" charset="0"/>
              </a:rPr>
              <a:t>: </a:t>
            </a:r>
          </a:p>
          <a:p>
            <a:pPr marL="457200" indent="-457200" algn="just">
              <a:lnSpc>
                <a:spcPct val="150000"/>
              </a:lnSpc>
              <a:spcAft>
                <a:spcPts val="100"/>
              </a:spcAft>
              <a:buFont typeface="Arial" panose="020B0604020202020204" pitchFamily="34" charset="0"/>
              <a:buChar char="•"/>
            </a:pPr>
            <a:r>
              <a:rPr lang="en-US" sz="5000">
                <a:latin typeface="Arial" panose="020B0604020202020204" pitchFamily="34" charset="0"/>
                <a:ea typeface="Tahoma" panose="020B0604030504040204" pitchFamily="34" charset="0"/>
                <a:cs typeface="Arial" panose="020B0604020202020204" pitchFamily="34" charset="0"/>
              </a:rPr>
              <a:t>Chưa thể triển khai thiết bị thật để có kết quả khách quan nhất</a:t>
            </a:r>
            <a:endParaRPr lang="en-US" sz="5000" dirty="0">
              <a:latin typeface="Arial" panose="020B0604020202020204" pitchFamily="34" charset="0"/>
              <a:ea typeface="Tahoma" panose="020B0604030504040204" pitchFamily="34" charset="0"/>
              <a:cs typeface="Arial" panose="020B0604020202020204" pitchFamily="34" charset="0"/>
            </a:endParaRPr>
          </a:p>
          <a:p>
            <a:pPr marL="457200" indent="-457200" algn="just">
              <a:lnSpc>
                <a:spcPct val="150000"/>
              </a:lnSpc>
              <a:spcAft>
                <a:spcPts val="100"/>
              </a:spcAft>
              <a:buFont typeface="Arial" panose="020B0604020202020204" pitchFamily="34" charset="0"/>
              <a:buChar char="•"/>
            </a:pPr>
            <a:r>
              <a:rPr lang="en-US" sz="5000">
                <a:latin typeface="Arial" panose="020B0604020202020204" pitchFamily="34" charset="0"/>
                <a:ea typeface="Tahoma" panose="020B0604030504040204" pitchFamily="34" charset="0"/>
                <a:cs typeface="Arial" panose="020B0604020202020204" pitchFamily="34" charset="0"/>
              </a:rPr>
              <a:t>Giao diện còn chưa hoàn chỉnh </a:t>
            </a:r>
          </a:p>
          <a:p>
            <a:pPr marL="457200" indent="-457200" algn="just">
              <a:lnSpc>
                <a:spcPct val="150000"/>
              </a:lnSpc>
              <a:spcAft>
                <a:spcPts val="100"/>
              </a:spcAft>
              <a:buFont typeface="Arial" panose="020B0604020202020204" pitchFamily="34" charset="0"/>
              <a:buChar char="•"/>
            </a:pPr>
            <a:r>
              <a:rPr lang="en-US" sz="5000">
                <a:latin typeface="Arial" panose="020B0604020202020204" pitchFamily="34" charset="0"/>
                <a:ea typeface="Tahoma" panose="020B0604030504040204" pitchFamily="34" charset="0"/>
                <a:cs typeface="Arial" panose="020B0604020202020204" pitchFamily="34" charset="0"/>
              </a:rPr>
              <a:t>Bảo mật chưa được đảm bảo </a:t>
            </a:r>
          </a:p>
          <a:p>
            <a:pPr marL="457200" indent="-457200" algn="just">
              <a:lnSpc>
                <a:spcPct val="150000"/>
              </a:lnSpc>
              <a:spcAft>
                <a:spcPts val="100"/>
              </a:spcAft>
              <a:buFont typeface="Arial" panose="020B0604020202020204" pitchFamily="34" charset="0"/>
              <a:buChar char="•"/>
            </a:pPr>
            <a:endParaRPr lang="en-US" sz="5000" dirty="0">
              <a:latin typeface="Arial" panose="020B0604020202020204" pitchFamily="34" charset="0"/>
              <a:ea typeface="Tahoma" panose="020B0604030504040204" pitchFamily="34" charset="0"/>
              <a:cs typeface="Arial" panose="020B0604020202020204" pitchFamily="34" charset="0"/>
            </a:endParaRPr>
          </a:p>
          <a:p>
            <a:pPr algn="just">
              <a:lnSpc>
                <a:spcPct val="150000"/>
              </a:lnSpc>
              <a:spcAft>
                <a:spcPts val="100"/>
              </a:spcAft>
            </a:pPr>
            <a:r>
              <a:rPr lang="en-US" sz="5000">
                <a:latin typeface="Arial" panose="020B0604020202020204" pitchFamily="34" charset="0"/>
                <a:ea typeface="Tahoma" panose="020B0604030504040204" pitchFamily="34" charset="0"/>
                <a:cs typeface="Arial" panose="020B0604020202020204" pitchFamily="34" charset="0"/>
              </a:rPr>
              <a:t>    </a:t>
            </a:r>
            <a:endParaRPr lang="vi-VN" sz="5000" dirty="0">
              <a:latin typeface="Arial" panose="020B0604020202020204" pitchFamily="34" charset="0"/>
              <a:ea typeface="Tahoma" panose="020B060403050404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2D38461-AC66-1605-3A69-B3E0F4E5002B}"/>
              </a:ext>
            </a:extLst>
          </p:cNvPr>
          <p:cNvSpPr txBox="1"/>
          <p:nvPr/>
        </p:nvSpPr>
        <p:spPr>
          <a:xfrm>
            <a:off x="1524000" y="1632341"/>
            <a:ext cx="14233584" cy="848950"/>
          </a:xfrm>
          <a:prstGeom prst="rect">
            <a:avLst/>
          </a:prstGeom>
          <a:noFill/>
        </p:spPr>
        <p:txBody>
          <a:bodyPr wrap="square" lIns="91440" tIns="45720" rIns="91440" bIns="45720" anchor="t">
            <a:spAutoFit/>
          </a:bodyPr>
          <a:lstStyle/>
          <a:p>
            <a:pPr>
              <a:lnSpc>
                <a:spcPts val="5880"/>
              </a:lnSpc>
            </a:pPr>
            <a:r>
              <a:rPr lang="en-GB" sz="5500" i="1" dirty="0">
                <a:solidFill>
                  <a:srgbClr val="002060"/>
                </a:solidFill>
                <a:latin typeface="Montserrat Extra-Bold" panose="020B0604020202020204" charset="0"/>
              </a:rPr>
              <a:t>IV.  </a:t>
            </a:r>
            <a:r>
              <a:rPr lang="en-GB" sz="5500" i="1" dirty="0" err="1">
                <a:solidFill>
                  <a:srgbClr val="002060"/>
                </a:solidFill>
                <a:latin typeface="Montserrat Extra-Bold" panose="020B0604020202020204" charset="0"/>
              </a:rPr>
              <a:t>Kết</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luận</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và</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hướng</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phát</a:t>
            </a:r>
            <a:r>
              <a:rPr lang="en-GB" sz="5500" i="1" dirty="0">
                <a:solidFill>
                  <a:srgbClr val="002060"/>
                </a:solidFill>
                <a:latin typeface="Montserrat Extra-Bold" panose="020B0604020202020204" charset="0"/>
              </a:rPr>
              <a:t> </a:t>
            </a:r>
            <a:r>
              <a:rPr lang="en-GB" sz="5500" i="1" dirty="0" err="1">
                <a:solidFill>
                  <a:srgbClr val="002060"/>
                </a:solidFill>
                <a:latin typeface="Montserrat Extra-Bold" panose="020B0604020202020204" charset="0"/>
              </a:rPr>
              <a:t>triển</a:t>
            </a:r>
            <a:endParaRPr lang="en-US" sz="5500" i="1" dirty="0">
              <a:solidFill>
                <a:srgbClr val="002060"/>
              </a:solidFill>
              <a:latin typeface="Montserrat Extra-Bold" panose="020B0604020202020204" charset="0"/>
            </a:endParaRPr>
          </a:p>
        </p:txBody>
      </p:sp>
      <p:sp>
        <p:nvSpPr>
          <p:cNvPr id="6" name="TextBox 5">
            <a:extLst>
              <a:ext uri="{FF2B5EF4-FFF2-40B4-BE49-F238E27FC236}">
                <a16:creationId xmlns:a16="http://schemas.microsoft.com/office/drawing/2014/main" id="{E1940DB3-1719-A97A-2871-D327D426B490}"/>
              </a:ext>
            </a:extLst>
          </p:cNvPr>
          <p:cNvSpPr txBox="1"/>
          <p:nvPr/>
        </p:nvSpPr>
        <p:spPr>
          <a:xfrm>
            <a:off x="2590800" y="3206358"/>
            <a:ext cx="9144000" cy="553998"/>
          </a:xfrm>
          <a:prstGeom prst="rect">
            <a:avLst/>
          </a:prstGeom>
          <a:noFill/>
        </p:spPr>
        <p:txBody>
          <a:bodyPr wrap="square">
            <a:spAutoFit/>
          </a:bodyPr>
          <a:lstStyle/>
          <a:p>
            <a:endParaRPr lang="vi-VN" sz="3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5157CEE-ED16-F9DA-036E-72950C027914}"/>
              </a:ext>
            </a:extLst>
          </p:cNvPr>
          <p:cNvSpPr txBox="1"/>
          <p:nvPr/>
        </p:nvSpPr>
        <p:spPr>
          <a:xfrm>
            <a:off x="1543050" y="2258707"/>
            <a:ext cx="16848108" cy="7478970"/>
          </a:xfrm>
          <a:prstGeom prst="rect">
            <a:avLst/>
          </a:prstGeom>
          <a:noFill/>
        </p:spPr>
        <p:txBody>
          <a:bodyPr wrap="square" lIns="91440" tIns="45720" rIns="91440" bIns="45720" anchor="t">
            <a:spAutoFit/>
          </a:bodyPr>
          <a:lstStyle/>
          <a:p>
            <a:pPr algn="just">
              <a:lnSpc>
                <a:spcPct val="150000"/>
              </a:lnSpc>
              <a:spcAft>
                <a:spcPts val="100"/>
              </a:spcAft>
            </a:pPr>
            <a:r>
              <a:rPr lang="en-US" sz="5000" b="1">
                <a:latin typeface="Arial" panose="020B0604020202020204" pitchFamily="34" charset="0"/>
                <a:ea typeface="Tahoma" panose="020B0604030504040204" pitchFamily="34" charset="0"/>
                <a:cs typeface="Arial" panose="020B0604020202020204" pitchFamily="34" charset="0"/>
              </a:rPr>
              <a:t>Hướng phát triển:</a:t>
            </a:r>
            <a:endParaRPr lang="en-US" sz="5000" b="1" dirty="0">
              <a:latin typeface="Arial" panose="020B0604020202020204" pitchFamily="34" charset="0"/>
              <a:ea typeface="Tahoma" panose="020B0604030504040204" pitchFamily="34" charset="0"/>
              <a:cs typeface="Arial" panose="020B0604020202020204" pitchFamily="34" charset="0"/>
            </a:endParaRPr>
          </a:p>
          <a:p>
            <a:pPr marL="457200" indent="-457200" algn="just">
              <a:spcAft>
                <a:spcPts val="100"/>
              </a:spcAft>
              <a:buFont typeface="Arial" panose="020B0604020202020204" pitchFamily="34" charset="0"/>
              <a:buChar char="•"/>
            </a:pPr>
            <a:r>
              <a:rPr lang="en-US" sz="5000">
                <a:latin typeface="Arial" panose="020B0604020202020204" pitchFamily="34" charset="0"/>
                <a:ea typeface="Tahoma" panose="020B0604030504040204" pitchFamily="34" charset="0"/>
                <a:cs typeface="Arial" panose="020B0604020202020204" pitchFamily="34" charset="0"/>
              </a:rPr>
              <a:t>Áp dụng thiết bị thật vào mô hình cũng như tối ưu giao diện website</a:t>
            </a:r>
            <a:endParaRPr lang="en-US" sz="5000" dirty="0">
              <a:latin typeface="Arial" panose="020B0604020202020204" pitchFamily="34" charset="0"/>
              <a:ea typeface="Tahoma" panose="020B0604030504040204" pitchFamily="34" charset="0"/>
              <a:cs typeface="Arial" panose="020B0604020202020204" pitchFamily="34" charset="0"/>
            </a:endParaRPr>
          </a:p>
          <a:p>
            <a:pPr marL="457200" indent="-457200" algn="just">
              <a:spcAft>
                <a:spcPts val="100"/>
              </a:spcAft>
              <a:buFont typeface="Arial" panose="020B0604020202020204" pitchFamily="34" charset="0"/>
              <a:buChar char="•"/>
            </a:pPr>
            <a:r>
              <a:rPr lang="en-US" sz="5000">
                <a:latin typeface="Arial" panose="020B0604020202020204" pitchFamily="34" charset="0"/>
                <a:ea typeface="Tahoma" panose="020B0604030504040204" pitchFamily="34" charset="0"/>
                <a:cs typeface="Arial" panose="020B0604020202020204" pitchFamily="34" charset="0"/>
              </a:rPr>
              <a:t>Tích hợp trí tuệ nhân tạo để chuẩn đoán chính xác hơn</a:t>
            </a:r>
          </a:p>
          <a:p>
            <a:pPr marL="457200" indent="-457200" algn="just">
              <a:spcAft>
                <a:spcPts val="100"/>
              </a:spcAft>
              <a:buFont typeface="Arial" panose="020B0604020202020204" pitchFamily="34" charset="0"/>
              <a:buChar char="•"/>
            </a:pPr>
            <a:r>
              <a:rPr lang="en-US" sz="5000">
                <a:latin typeface="Arial" panose="020B0604020202020204" pitchFamily="34" charset="0"/>
                <a:ea typeface="Tahoma" panose="020B0604030504040204" pitchFamily="34" charset="0"/>
                <a:cs typeface="Arial" panose="020B0604020202020204" pitchFamily="34" charset="0"/>
              </a:rPr>
              <a:t>Thiết kế thêm ứng dụng di động để người dung tiện theo dõi</a:t>
            </a:r>
          </a:p>
          <a:p>
            <a:pPr marL="457200" indent="-457200" algn="just">
              <a:spcAft>
                <a:spcPts val="100"/>
              </a:spcAft>
              <a:buFont typeface="Arial" panose="020B0604020202020204" pitchFamily="34" charset="0"/>
              <a:buChar char="•"/>
            </a:pPr>
            <a:r>
              <a:rPr lang="en-US" sz="5000">
                <a:latin typeface="Arial" panose="020B0604020202020204" pitchFamily="34" charset="0"/>
                <a:ea typeface="Tahoma" panose="020B0604030504040204" pitchFamily="34" charset="0"/>
                <a:cs typeface="Arial" panose="020B0604020202020204" pitchFamily="34" charset="0"/>
              </a:rPr>
              <a:t>Tích hợp các nguồn năng lượng tái chế vào hệ thống </a:t>
            </a:r>
          </a:p>
          <a:p>
            <a:pPr marL="457200" indent="-457200" algn="just">
              <a:spcAft>
                <a:spcPts val="100"/>
              </a:spcAft>
              <a:buFont typeface="Arial" panose="020B0604020202020204" pitchFamily="34" charset="0"/>
              <a:buChar char="•"/>
            </a:pPr>
            <a:r>
              <a:rPr lang="en-US" sz="5000">
                <a:latin typeface="Arial" panose="020B0604020202020204" pitchFamily="34" charset="0"/>
                <a:ea typeface="Tahoma" panose="020B0604030504040204" pitchFamily="34" charset="0"/>
                <a:cs typeface="Arial" panose="020B0604020202020204" pitchFamily="34" charset="0"/>
              </a:rPr>
              <a:t>Tăng cường bảo mật đảm bảo an toàn cho hệ thống</a:t>
            </a:r>
            <a:endParaRPr lang="en-US" sz="5000" dirty="0">
              <a:latin typeface="Arial" panose="020B0604020202020204" pitchFamily="34" charset="0"/>
              <a:ea typeface="Tahoma" panose="020B0604030504040204" pitchFamily="34" charset="0"/>
              <a:cs typeface="Arial" panose="020B0604020202020204" pitchFamily="34" charset="0"/>
            </a:endParaRPr>
          </a:p>
          <a:p>
            <a:pPr algn="just">
              <a:spcAft>
                <a:spcPts val="100"/>
              </a:spcAft>
            </a:pPr>
            <a:r>
              <a:rPr lang="en-US" sz="5000">
                <a:latin typeface="Arial" panose="020B0604020202020204" pitchFamily="34" charset="0"/>
                <a:ea typeface="Tahoma" panose="020B0604030504040204" pitchFamily="34" charset="0"/>
                <a:cs typeface="Arial" panose="020B0604020202020204" pitchFamily="34" charset="0"/>
              </a:rPr>
              <a:t>    </a:t>
            </a:r>
            <a:endParaRPr lang="vi-VN" sz="5000" dirty="0">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753563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1"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par>
                                <p:cTn id="13" presetID="14" presetClass="entr" presetSubtype="1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randombar(horizont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25771" y="2959926"/>
            <a:ext cx="17259300" cy="3267305"/>
          </a:xfrm>
          <a:prstGeom prst="rect">
            <a:avLst/>
          </a:prstGeom>
        </p:spPr>
        <p:txBody>
          <a:bodyPr lIns="0" tIns="0" rIns="0" bIns="0" rtlCol="0" anchor="t">
            <a:spAutoFit/>
          </a:bodyPr>
          <a:lstStyle/>
          <a:p>
            <a:pPr algn="ctr">
              <a:lnSpc>
                <a:spcPct val="150000"/>
              </a:lnSpc>
            </a:pPr>
            <a:r>
              <a:rPr lang="en-US" sz="7500" spc="-354" dirty="0" err="1">
                <a:solidFill>
                  <a:srgbClr val="263F6B"/>
                </a:solidFill>
                <a:latin typeface="Montserrat Extra-Bold Italics"/>
              </a:rPr>
              <a:t>Cám</a:t>
            </a:r>
            <a:r>
              <a:rPr lang="en-US" sz="7500" spc="-354" dirty="0">
                <a:solidFill>
                  <a:srgbClr val="263F6B"/>
                </a:solidFill>
                <a:latin typeface="Montserrat Extra-Bold Italics"/>
              </a:rPr>
              <a:t> </a:t>
            </a:r>
            <a:r>
              <a:rPr lang="en-US" sz="7500" spc="-354" dirty="0" err="1">
                <a:solidFill>
                  <a:srgbClr val="263F6B"/>
                </a:solidFill>
                <a:latin typeface="Montserrat Extra-Bold Italics"/>
              </a:rPr>
              <a:t>ơn</a:t>
            </a:r>
            <a:r>
              <a:rPr lang="en-US" sz="7500" spc="-354" dirty="0">
                <a:solidFill>
                  <a:srgbClr val="263F6B"/>
                </a:solidFill>
                <a:latin typeface="Montserrat Extra-Bold Italics"/>
              </a:rPr>
              <a:t> </a:t>
            </a:r>
            <a:r>
              <a:rPr lang="en-US" sz="7500" spc="-354" dirty="0" err="1">
                <a:solidFill>
                  <a:srgbClr val="263F6B"/>
                </a:solidFill>
                <a:latin typeface="Montserrat Extra-Bold Italics"/>
              </a:rPr>
              <a:t>thầy</a:t>
            </a:r>
            <a:r>
              <a:rPr lang="en-US" sz="7500" spc="-354" dirty="0">
                <a:solidFill>
                  <a:srgbClr val="263F6B"/>
                </a:solidFill>
                <a:latin typeface="Montserrat Extra-Bold Italics"/>
              </a:rPr>
              <a:t> </a:t>
            </a:r>
            <a:r>
              <a:rPr lang="en-US" sz="7500" spc="-354" dirty="0" err="1">
                <a:solidFill>
                  <a:srgbClr val="263F6B"/>
                </a:solidFill>
                <a:latin typeface="Montserrat Extra-Bold Italics"/>
              </a:rPr>
              <a:t>và</a:t>
            </a:r>
            <a:r>
              <a:rPr lang="en-US" sz="7500" spc="-354" dirty="0">
                <a:solidFill>
                  <a:srgbClr val="263F6B"/>
                </a:solidFill>
                <a:latin typeface="Montserrat Extra-Bold Italics"/>
              </a:rPr>
              <a:t> </a:t>
            </a:r>
            <a:r>
              <a:rPr lang="en-US" sz="7500" spc="-354" dirty="0" err="1">
                <a:solidFill>
                  <a:srgbClr val="263F6B"/>
                </a:solidFill>
                <a:latin typeface="Montserrat Extra-Bold Italics"/>
              </a:rPr>
              <a:t>các</a:t>
            </a:r>
            <a:r>
              <a:rPr lang="en-US" sz="7500" spc="-354" dirty="0">
                <a:solidFill>
                  <a:srgbClr val="263F6B"/>
                </a:solidFill>
                <a:latin typeface="Montserrat Extra-Bold Italics"/>
              </a:rPr>
              <a:t> </a:t>
            </a:r>
            <a:r>
              <a:rPr lang="en-US" sz="7500" spc="-354" dirty="0" err="1">
                <a:solidFill>
                  <a:srgbClr val="263F6B"/>
                </a:solidFill>
                <a:latin typeface="Montserrat Extra-Bold Italics"/>
              </a:rPr>
              <a:t>bạn</a:t>
            </a:r>
            <a:r>
              <a:rPr lang="en-US" sz="7500" spc="-354" dirty="0">
                <a:solidFill>
                  <a:srgbClr val="263F6B"/>
                </a:solidFill>
                <a:latin typeface="Montserrat Extra-Bold Italics"/>
              </a:rPr>
              <a:t> </a:t>
            </a:r>
          </a:p>
          <a:p>
            <a:pPr algn="ctr">
              <a:lnSpc>
                <a:spcPct val="150000"/>
              </a:lnSpc>
            </a:pPr>
            <a:r>
              <a:rPr lang="en-US" sz="7500" spc="-354" dirty="0" err="1">
                <a:solidFill>
                  <a:srgbClr val="263F6B"/>
                </a:solidFill>
                <a:latin typeface="Montserrat Extra-Bold Italics"/>
              </a:rPr>
              <a:t>đã</a:t>
            </a:r>
            <a:r>
              <a:rPr lang="en-US" sz="7500" spc="-354" dirty="0">
                <a:solidFill>
                  <a:srgbClr val="263F6B"/>
                </a:solidFill>
                <a:latin typeface="Montserrat Extra-Bold Italics"/>
              </a:rPr>
              <a:t> </a:t>
            </a:r>
            <a:r>
              <a:rPr lang="en-US" sz="7500" spc="-354" dirty="0" err="1">
                <a:solidFill>
                  <a:srgbClr val="263F6B"/>
                </a:solidFill>
                <a:latin typeface="Montserrat Extra-Bold Italics"/>
              </a:rPr>
              <a:t>lắng</a:t>
            </a:r>
            <a:r>
              <a:rPr lang="en-US" sz="7500" spc="-354" dirty="0">
                <a:solidFill>
                  <a:srgbClr val="263F6B"/>
                </a:solidFill>
                <a:latin typeface="Montserrat Extra-Bold Italics"/>
              </a:rPr>
              <a:t> </a:t>
            </a:r>
            <a:r>
              <a:rPr lang="en-US" sz="7500" spc="-354" dirty="0" err="1">
                <a:solidFill>
                  <a:srgbClr val="263F6B"/>
                </a:solidFill>
                <a:latin typeface="Montserrat Extra-Bold Italics"/>
              </a:rPr>
              <a:t>nghe</a:t>
            </a:r>
            <a:r>
              <a:rPr lang="en-US" sz="7500" spc="-354" dirty="0">
                <a:solidFill>
                  <a:srgbClr val="263F6B"/>
                </a:solidFill>
                <a:latin typeface="Montserrat Extra-Bold Italics"/>
              </a:rPr>
              <a:t> </a:t>
            </a:r>
            <a:r>
              <a:rPr lang="en-US" sz="7500" spc="-354" dirty="0" err="1">
                <a:solidFill>
                  <a:srgbClr val="263F6B"/>
                </a:solidFill>
                <a:latin typeface="Montserrat Extra-Bold Italics"/>
              </a:rPr>
              <a:t>bài</a:t>
            </a:r>
            <a:r>
              <a:rPr lang="en-US" sz="7500" spc="-354" dirty="0">
                <a:solidFill>
                  <a:srgbClr val="263F6B"/>
                </a:solidFill>
                <a:latin typeface="Montserrat Extra-Bold Italics"/>
              </a:rPr>
              <a:t> </a:t>
            </a:r>
            <a:r>
              <a:rPr lang="en-US" sz="7500" spc="-354" dirty="0" err="1">
                <a:solidFill>
                  <a:srgbClr val="263F6B"/>
                </a:solidFill>
                <a:latin typeface="Montserrat Extra-Bold Italics"/>
              </a:rPr>
              <a:t>báo</a:t>
            </a:r>
            <a:r>
              <a:rPr lang="en-US" sz="7500" spc="-354" dirty="0">
                <a:solidFill>
                  <a:srgbClr val="263F6B"/>
                </a:solidFill>
                <a:latin typeface="Montserrat Extra-Bold Italics"/>
              </a:rPr>
              <a:t> </a:t>
            </a:r>
            <a:r>
              <a:rPr lang="en-US" sz="7500" spc="-354" dirty="0" err="1">
                <a:solidFill>
                  <a:srgbClr val="263F6B"/>
                </a:solidFill>
                <a:latin typeface="Montserrat Extra-Bold Italics"/>
              </a:rPr>
              <a:t>cáo</a:t>
            </a:r>
            <a:r>
              <a:rPr lang="en-US" sz="7500" spc="-354" dirty="0">
                <a:solidFill>
                  <a:srgbClr val="263F6B"/>
                </a:solidFill>
                <a:latin typeface="Montserrat Extra-Bold Italics"/>
              </a:rPr>
              <a:t> </a:t>
            </a:r>
          </a:p>
        </p:txBody>
      </p:sp>
      <p:sp>
        <p:nvSpPr>
          <p:cNvPr id="3" name="AutoShape 3"/>
          <p:cNvSpPr/>
          <p:nvPr/>
        </p:nvSpPr>
        <p:spPr>
          <a:xfrm>
            <a:off x="1028700" y="9591065"/>
            <a:ext cx="16230600" cy="1351653"/>
          </a:xfrm>
          <a:prstGeom prst="rect">
            <a:avLst/>
          </a:prstGeom>
          <a:solidFill>
            <a:srgbClr val="1C9B5E"/>
          </a:solidFill>
        </p:spPr>
      </p:sp>
      <p:sp>
        <p:nvSpPr>
          <p:cNvPr id="4" name="AutoShape 4"/>
          <p:cNvSpPr/>
          <p:nvPr/>
        </p:nvSpPr>
        <p:spPr>
          <a:xfrm>
            <a:off x="1028700" y="-675827"/>
            <a:ext cx="16230600" cy="1351653"/>
          </a:xfrm>
          <a:prstGeom prst="rect">
            <a:avLst/>
          </a:prstGeom>
          <a:solidFill>
            <a:srgbClr val="1C9B5E"/>
          </a:solidFill>
        </p:spPr>
      </p:sp>
      <p:grpSp>
        <p:nvGrpSpPr>
          <p:cNvPr id="6" name="Group 6"/>
          <p:cNvGrpSpPr/>
          <p:nvPr/>
        </p:nvGrpSpPr>
        <p:grpSpPr>
          <a:xfrm>
            <a:off x="625771" y="675827"/>
            <a:ext cx="13890124" cy="2150750"/>
            <a:chOff x="0" y="0"/>
            <a:chExt cx="18520165" cy="2867666"/>
          </a:xfrm>
        </p:grpSpPr>
        <p:pic>
          <p:nvPicPr>
            <p:cNvPr id="7" name="Picture 7"/>
            <p:cNvPicPr>
              <a:picLocks noChangeAspect="1"/>
            </p:cNvPicPr>
            <p:nvPr/>
          </p:nvPicPr>
          <p:blipFill>
            <a:blip r:embed="rId2"/>
            <a:srcRect/>
            <a:stretch>
              <a:fillRect/>
            </a:stretch>
          </p:blipFill>
          <p:spPr>
            <a:xfrm>
              <a:off x="0" y="0"/>
              <a:ext cx="2908633" cy="2867666"/>
            </a:xfrm>
            <a:prstGeom prst="rect">
              <a:avLst/>
            </a:prstGeom>
          </p:spPr>
        </p:pic>
        <p:sp>
          <p:nvSpPr>
            <p:cNvPr id="8" name="TextBox 8"/>
            <p:cNvSpPr txBox="1"/>
            <p:nvPr/>
          </p:nvSpPr>
          <p:spPr>
            <a:xfrm>
              <a:off x="2669694" y="844342"/>
              <a:ext cx="15850471" cy="940858"/>
            </a:xfrm>
            <a:prstGeom prst="rect">
              <a:avLst/>
            </a:prstGeom>
          </p:spPr>
          <p:txBody>
            <a:bodyPr lIns="0" tIns="0" rIns="0" bIns="0" rtlCol="0" anchor="t">
              <a:spAutoFit/>
            </a:bodyPr>
            <a:lstStyle/>
            <a:p>
              <a:pPr algn="ctr">
                <a:lnSpc>
                  <a:spcPts val="6650"/>
                </a:lnSpc>
                <a:spcBef>
                  <a:spcPct val="0"/>
                </a:spcBef>
              </a:pPr>
              <a:r>
                <a:rPr lang="en-US" sz="3500" spc="70">
                  <a:solidFill>
                    <a:srgbClr val="263F6B"/>
                  </a:solidFill>
                  <a:latin typeface="Montserrat Extra-Bold"/>
                </a:rPr>
                <a:t>Trường đại học Sư Phạm Kỹ thuật Vĩnh Long</a:t>
              </a:r>
            </a:p>
          </p:txBody>
        </p:sp>
      </p:grpSp>
    </p:spTree>
    <p:extLst>
      <p:ext uri="{BB962C8B-B14F-4D97-AF65-F5344CB8AC3E}">
        <p14:creationId xmlns:p14="http://schemas.microsoft.com/office/powerpoint/2010/main" val="82336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2206</TotalTime>
  <Words>1054</Words>
  <Application>Microsoft Office PowerPoint</Application>
  <PresentationFormat>Custom</PresentationFormat>
  <Paragraphs>113</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Montserrat Extra-Bold</vt:lpstr>
      <vt:lpstr>Arial</vt:lpstr>
      <vt:lpstr>Calibri</vt:lpstr>
      <vt:lpstr>Montserrat Extra-Bold Italics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Company Profile Presentation</dc:title>
  <cp:lastModifiedBy>Hoàng Tâm</cp:lastModifiedBy>
  <cp:revision>592</cp:revision>
  <dcterms:created xsi:type="dcterms:W3CDTF">2006-08-16T00:00:00Z</dcterms:created>
  <dcterms:modified xsi:type="dcterms:W3CDTF">2023-12-13T05:42:09Z</dcterms:modified>
  <dc:identifier>DAFbpHv4NzI</dc:identifier>
</cp:coreProperties>
</file>